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09306-ABD1-D93D-2661-95C426E76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DA4B4-5D1E-C554-041C-E49EF7449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99B6F-B040-007F-7BBF-59835F611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2BA0E-D72E-9B00-4EEB-0F0AB24F4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BDC34-134C-D4D8-A5CF-EB1A9349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584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543B-08D8-1833-6D51-3F7790A78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A08A8-34F5-7C85-F03C-14C7F1F90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D3303-BB04-795E-A0AC-6E5D131D6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3A45C-8595-F0D0-65B8-665DD2F0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9FBED-8D96-8762-BE7A-221F14A0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2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1BD9-706B-FF02-6A53-866DEE9EC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E2456-BDB5-65E2-4E4C-4DA6927FF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9017E-DCD5-C82F-4A1C-6CA4F601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01050-2C01-9754-DC56-0CECAC4B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9E8D0-480C-1CD0-DA36-055508CF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0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F4647-02FB-AC1C-3F5C-C49A5C0E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4C54D-11EF-A82F-3549-B055AF3F7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AA4CF-8144-7BB0-20CC-677F5E2EB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A0D1A-AF7C-55B2-E94F-06E200455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69CDF-EFA2-5C75-3AE0-BCDB0D7B7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90AC4-E0F8-FFC8-C242-C906A9BD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5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EE2A1-76EF-DCC7-C9AA-47C2F580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DE0D9-B498-D0E3-0D89-95E7B7FB8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3A0B7-238F-99D5-4572-6A0C88C68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7AC1D-4D52-A2CA-3E98-8094071B2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0D4E9-1D24-2DC0-8E62-30E85234C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268B5-81A5-F977-5FCD-43BC633D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F3493-6B48-64DD-C53F-4CDEC8D35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1A5B70-A14E-1B97-F74C-E4E2FDFD4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6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F6A13-FFCF-9DA0-CE5A-F54DBF13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1DB47-B75E-A9CD-C184-5936C0AC1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A9FED-95C6-4820-CD3E-789F1644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44CC9-DDC9-2EB1-7092-C7B91B9F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4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C356FA-66AB-7ED0-2AC9-D19F29D42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03228-0D87-73C1-776E-DF3284191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B9747-78E5-99C8-ED3A-CEEBC6FE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5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84BD1-62E6-01C5-32A0-E9C4336A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1E926-3546-F3C0-1ECA-375A31BC7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CD1D-FEB6-3AEE-B57D-625A55557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71E1F-B368-8B14-CCE2-EDE23989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49AF6-2E20-EEAF-A716-70B881F70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58305-5D3C-1625-1F86-F6101CBE5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0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403D2-6413-9985-E3D4-6CA868260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626768-6300-EDE6-CD13-5B66A3DC3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82F65-88C2-105B-52A5-5FAC9FE54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F8883-FE92-319A-D4FE-09884DEA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7FAF4-6D22-2B8F-B802-7A1C4F03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FA0F2-3CCE-708B-6BD0-78B99B10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0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9F757-48AA-9404-8EEA-B986B284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C2BFC-4ABD-E1BA-233D-FE65DE6A0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0BED0-5DF6-6D9C-C2CB-19888FE7C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3360F-8C49-E3AF-B4F9-A4D2D61A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9E239-5DDB-662C-9615-77616CF79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49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530AA9-4DA0-5B03-CFD5-AB9CE8ECD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51931-8086-D1BE-4D26-AA429D0B6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13894-9468-CB43-A43A-C42E111F6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5AE11-FA1A-AB06-305F-FB1E566B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02D67-8D93-6CF5-29D3-BB728263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1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D807B5-5103-FD9C-963D-ECBC8BAF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DE86E-B0B9-9826-A801-2F492D4EF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41E79-F20B-B71C-9B5A-EA264BA43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55C13-B4DF-2040-8734-19907E4D03A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0B237-F22F-7CE6-A5C0-031B3769A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BBF6-77BE-38CD-10BD-B253BC6E2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529FA-7AFE-D948-ABC7-75FF1B731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00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78DCE23-098A-76D9-6024-9B6C9F333BA2}"/>
              </a:ext>
            </a:extLst>
          </p:cNvPr>
          <p:cNvSpPr txBox="1"/>
          <p:nvPr/>
        </p:nvSpPr>
        <p:spPr>
          <a:xfrm>
            <a:off x="1179465" y="2225080"/>
            <a:ext cx="9833069" cy="240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4000" b="1" kern="1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 Williams, TWC Ltd</a:t>
            </a:r>
            <a:endParaRPr lang="en-GB" sz="14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400" b="1" kern="1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Senior Project Manager | PMO Manager | Service Transition Lead</a:t>
            </a:r>
            <a:endParaRPr lang="en-GB" sz="14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ctr">
              <a:buNone/>
            </a:pPr>
            <a:r>
              <a:rPr lang="en-GB" sz="1800" i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Driving infrastructure, cyber, and service transition programmes with governance and assurance</a:t>
            </a:r>
            <a:r>
              <a:rPr lang="en-GB" dirty="0">
                <a:solidFill>
                  <a:schemeClr val="bg1"/>
                </a:solidFill>
                <a:effectLst/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0F929A-9838-91EE-755F-69EB35FD6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424" y="140398"/>
            <a:ext cx="1494255" cy="14942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51706C-805A-17BE-9E86-9C6975BE3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45" y="144164"/>
            <a:ext cx="1490472" cy="140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09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A2CA57C-F889-2812-0654-108CC45112CB}"/>
              </a:ext>
            </a:extLst>
          </p:cNvPr>
          <p:cNvSpPr txBox="1"/>
          <p:nvPr/>
        </p:nvSpPr>
        <p:spPr>
          <a:xfrm>
            <a:off x="1723302" y="766828"/>
            <a:ext cx="8745395" cy="532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40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Executive Summary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 deliver large‑scale IT, infrastructure, and cyber programmes with a focus on execution certainty, operational readiness, and governance. My work spans national EUC transformations, identity and access uplift, PMO leadership, and service transition across complex, regulated, and multi‑vendor environments. I bring structure, clarity, and assurance to programmes that require disciplined delivery, stakeholder alignment, and measurable outcomes.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My track record shows repeatability across sectors including financial services, utilities, government, healthcare, and aviation. I stabilise programmes, drive adoption, and ensure services are secure, resilient, and ready for BAU. My leadership is grounded in practical delivery, strong stakeholder engagement, and a consistent ability to bring order and momentum to challenging portfolios.</a:t>
            </a:r>
          </a:p>
        </p:txBody>
      </p:sp>
    </p:spTree>
    <p:extLst>
      <p:ext uri="{BB962C8B-B14F-4D97-AF65-F5344CB8AC3E}">
        <p14:creationId xmlns:p14="http://schemas.microsoft.com/office/powerpoint/2010/main" val="1690303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B92FAF7-0AD3-4B47-9111-D0E9CD79E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A77139-BADB-4B2C-BD41-B67A4D37D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526" y="2227167"/>
            <a:ext cx="4336168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20" name="Freeform: Shape 19">
              <a:extLst>
                <a:ext uri="{FF2B5EF4-FFF2-40B4-BE49-F238E27FC236}">
                  <a16:creationId xmlns:a16="http://schemas.microsoft.com/office/drawing/2014/main" id="{DAC7B25D-E1A6-459A-B45A-1912B0CD9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1" name="Freeform: Shape 20">
              <a:extLst>
                <a:ext uri="{FF2B5EF4-FFF2-40B4-BE49-F238E27FC236}">
                  <a16:creationId xmlns:a16="http://schemas.microsoft.com/office/drawing/2014/main" id="{920A7C7E-00F6-490C-A8E7-5167EA6A4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2" name="Freeform: Shape 21">
              <a:extLst>
                <a:ext uri="{FF2B5EF4-FFF2-40B4-BE49-F238E27FC236}">
                  <a16:creationId xmlns:a16="http://schemas.microsoft.com/office/drawing/2014/main" id="{2E166FC5-8F23-41C3-879A-BFF8D5B70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3" name="Freeform: Shape 22">
              <a:extLst>
                <a:ext uri="{FF2B5EF4-FFF2-40B4-BE49-F238E27FC236}">
                  <a16:creationId xmlns:a16="http://schemas.microsoft.com/office/drawing/2014/main" id="{5C727C6A-DB0B-482E-B0E4-4F035FC023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786ABD8-AB9F-46F2-A7D9-36F1F7338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112326" y="0"/>
            <a:ext cx="4683941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B26E49F-E19A-487B-A8A4-A26128CF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8E67742-7BE5-458C-BC8D-9EE855763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B03BE98-6C07-41CD-ACA9-5244A3DA1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13CCE92-2C5E-48BC-9713-FBEEDBAE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090A9A6-9146-7A2A-E5A4-0BA14FF43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853" y="828765"/>
            <a:ext cx="2629372" cy="6031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0927F4-A03F-75EB-CB83-10A1706A6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955" y="4419972"/>
            <a:ext cx="2871905" cy="8827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588A97-EFE2-6A0C-8E47-5C706BD73F3B}"/>
              </a:ext>
            </a:extLst>
          </p:cNvPr>
          <p:cNvSpPr txBox="1"/>
          <p:nvPr/>
        </p:nvSpPr>
        <p:spPr>
          <a:xfrm>
            <a:off x="412441" y="347380"/>
            <a:ext cx="55807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Global Infrastructure &amp; EUC Transformations</a:t>
            </a:r>
            <a:endParaRPr lang="en-US" sz="4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FAEE6A-0D65-A7F5-5C6D-20AD8EA4D7D6}"/>
              </a:ext>
            </a:extLst>
          </p:cNvPr>
          <p:cNvSpPr txBox="1"/>
          <p:nvPr/>
        </p:nvSpPr>
        <p:spPr>
          <a:xfrm>
            <a:off x="440474" y="2745804"/>
            <a:ext cx="6098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National‑Scale EUC Transformations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BD67D2-BE7A-5FBD-70A7-A6B12A824055}"/>
              </a:ext>
            </a:extLst>
          </p:cNvPr>
          <p:cNvSpPr txBox="1"/>
          <p:nvPr/>
        </p:nvSpPr>
        <p:spPr>
          <a:xfrm>
            <a:off x="3049258" y="2633514"/>
            <a:ext cx="6098514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9DFF03-84FC-C9F1-C9E7-A51E9006050E}"/>
              </a:ext>
            </a:extLst>
          </p:cNvPr>
          <p:cNvSpPr txBox="1"/>
          <p:nvPr/>
        </p:nvSpPr>
        <p:spPr>
          <a:xfrm>
            <a:off x="472996" y="3904222"/>
            <a:ext cx="72586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Tesco’s 126,000‑device EUC refresh and HSBC’s 46,000‑user </a:t>
            </a:r>
            <a:r>
              <a:rPr lang="en-US" dirty="0" err="1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modernisation</a:t>
            </a:r>
            <a:r>
              <a:rPr lang="en-US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demonstrate my ability to coordinate multi‑region deployments, manage complex logistics, and </a:t>
            </a:r>
            <a:r>
              <a:rPr lang="en-US" dirty="0" err="1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stabilise</a:t>
            </a:r>
            <a:r>
              <a:rPr lang="en-US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large user estates. I ensured readiness, adoption, and operational continuity across environments with high regulatory and operational pressure.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07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619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82082-629A-3A14-7ABC-E617B3813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646" y="855630"/>
            <a:ext cx="4491887" cy="2200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DD6824-0923-DC7C-CCB2-9F94C4D57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646" y="4490598"/>
            <a:ext cx="4491887" cy="786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3DD2AD-5F69-385E-286D-21E36049E43B}"/>
              </a:ext>
            </a:extLst>
          </p:cNvPr>
          <p:cNvSpPr txBox="1"/>
          <p:nvPr/>
        </p:nvSpPr>
        <p:spPr>
          <a:xfrm>
            <a:off x="643467" y="639505"/>
            <a:ext cx="60985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Global Infrastructure &amp; EUC Transformations</a:t>
            </a:r>
            <a:endParaRPr lang="en-US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5A0ED0-ABB8-3082-1607-9E298792CE6A}"/>
              </a:ext>
            </a:extLst>
          </p:cNvPr>
          <p:cNvSpPr txBox="1"/>
          <p:nvPr/>
        </p:nvSpPr>
        <p:spPr>
          <a:xfrm>
            <a:off x="643467" y="2297527"/>
            <a:ext cx="60985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Modern Workplace &amp; Cloud‑Managed Deployments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BB1005-7EC9-317C-03FD-3186998A7814}"/>
              </a:ext>
            </a:extLst>
          </p:cNvPr>
          <p:cNvSpPr txBox="1"/>
          <p:nvPr/>
        </p:nvSpPr>
        <p:spPr>
          <a:xfrm>
            <a:off x="643467" y="3868338"/>
            <a:ext cx="52538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United Utilities and NFUM highlight my capability in cloud‑managed EUC, device lifecycle, and secure configuration at scale. I delivered structured governance, stakeholder alignment, and controlled rollout across 32,000+ devices, ensuring stable, supportable platforms.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86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FCFC03-D553-FD57-CE87-EA0F8D5856B9}"/>
              </a:ext>
            </a:extLst>
          </p:cNvPr>
          <p:cNvSpPr txBox="1"/>
          <p:nvPr/>
        </p:nvSpPr>
        <p:spPr>
          <a:xfrm>
            <a:off x="883971" y="2779276"/>
            <a:ext cx="7842564" cy="2181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GB" sz="1800" kern="1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At Newcastle University, I led Teams Rooms deployment and print modernisation across a diverse academic environment. I aligned technical delivery with user experience, operational support, and long‑term service sustainability.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1A5739-1E08-7353-DB57-933321766BDA}"/>
              </a:ext>
            </a:extLst>
          </p:cNvPr>
          <p:cNvSpPr txBox="1"/>
          <p:nvPr/>
        </p:nvSpPr>
        <p:spPr>
          <a:xfrm>
            <a:off x="883971" y="516488"/>
            <a:ext cx="60985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Global Infrastructure &amp; EUC Transformations</a:t>
            </a:r>
            <a:endParaRPr lang="en-US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463E5-17CB-C939-E2ED-258342627EBC}"/>
              </a:ext>
            </a:extLst>
          </p:cNvPr>
          <p:cNvSpPr txBox="1"/>
          <p:nvPr/>
        </p:nvSpPr>
        <p:spPr>
          <a:xfrm>
            <a:off x="883971" y="2317611"/>
            <a:ext cx="6098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Sector‑Specific Modernisation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BF25D5-6905-C9DB-05FD-563B2BB38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29" y="797207"/>
            <a:ext cx="24384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4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D00FE7-CA5E-D80C-2362-45AAC093E3C3}"/>
              </a:ext>
            </a:extLst>
          </p:cNvPr>
          <p:cNvSpPr txBox="1"/>
          <p:nvPr/>
        </p:nvSpPr>
        <p:spPr>
          <a:xfrm>
            <a:off x="697872" y="3333546"/>
            <a:ext cx="5790446" cy="1976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NHS England’s CAF uplift and Luton Airport’s MFA, PAM, and SSO programmes show my strength in regulated cyber environments. I delivered identity uplift, strengthened access controls, and embedded governance frameworks that improved security posture and operational resilience.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78F87-A914-E1E5-A176-A8EF73DDD395}"/>
              </a:ext>
            </a:extLst>
          </p:cNvPr>
          <p:cNvSpPr txBox="1"/>
          <p:nvPr/>
        </p:nvSpPr>
        <p:spPr>
          <a:xfrm>
            <a:off x="697872" y="632661"/>
            <a:ext cx="60985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Cybersecurity &amp; Identity</a:t>
            </a:r>
            <a:endParaRPr lang="en-US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30F4B-A2E6-DC02-DE58-F538128111D6}"/>
              </a:ext>
            </a:extLst>
          </p:cNvPr>
          <p:cNvSpPr txBox="1"/>
          <p:nvPr/>
        </p:nvSpPr>
        <p:spPr>
          <a:xfrm>
            <a:off x="697872" y="1636166"/>
            <a:ext cx="6098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Cybersecurity &amp; Identity Uplift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B0E064-031E-2B90-A5D1-676051550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534" y="3712171"/>
            <a:ext cx="1600200" cy="1219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1AED17-052C-EFFA-A286-A916DEB73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890" y="1172616"/>
            <a:ext cx="21463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54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858B417-CBCA-6DE8-D3C3-7DF7A1B7A8BE}"/>
              </a:ext>
            </a:extLst>
          </p:cNvPr>
          <p:cNvSpPr txBox="1"/>
          <p:nvPr/>
        </p:nvSpPr>
        <p:spPr>
          <a:xfrm>
            <a:off x="823614" y="2372112"/>
            <a:ext cx="4841656" cy="2294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At Computacenter Belgium and Eversheds, I built and led PMO functions that brought structure, reporting discipline, and delivery assurance to multi‑stream portfolios. I established governance frameworks, improved stakeholder confidence, and stabilised programme execution.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7B851-D046-F729-1EA9-E3BD224768E0}"/>
              </a:ext>
            </a:extLst>
          </p:cNvPr>
          <p:cNvSpPr txBox="1"/>
          <p:nvPr/>
        </p:nvSpPr>
        <p:spPr>
          <a:xfrm>
            <a:off x="6916490" y="2372111"/>
            <a:ext cx="4451896" cy="2294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My work with the FCO, NFUM, and Dounreay Nuclear demonstrates repeatability in high‑governance environments. I delivered structured reporting, risk control, and portfolio alignment across programmes with strict regulatory and operational constraints.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45A81D-063E-995E-8DC6-74DAFD858818}"/>
              </a:ext>
            </a:extLst>
          </p:cNvPr>
          <p:cNvSpPr txBox="1"/>
          <p:nvPr/>
        </p:nvSpPr>
        <p:spPr>
          <a:xfrm>
            <a:off x="823614" y="609157"/>
            <a:ext cx="90041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PMO Leadership &amp; Governance</a:t>
            </a:r>
            <a:endParaRPr lang="en-US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0140EF-128D-918E-FCC7-A196D4FD72A4}"/>
              </a:ext>
            </a:extLst>
          </p:cNvPr>
          <p:cNvSpPr txBox="1"/>
          <p:nvPr/>
        </p:nvSpPr>
        <p:spPr>
          <a:xfrm>
            <a:off x="823614" y="1514955"/>
            <a:ext cx="6098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PMO Build &amp; Leadership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2972B-4E78-4D21-39D4-21498CD5A360}"/>
              </a:ext>
            </a:extLst>
          </p:cNvPr>
          <p:cNvSpPr txBox="1"/>
          <p:nvPr/>
        </p:nvSpPr>
        <p:spPr>
          <a:xfrm>
            <a:off x="6922128" y="1561121"/>
            <a:ext cx="663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Regulated &amp; Government PMO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0209439-D77C-AF1F-1C71-DA666269A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14" y="5087797"/>
            <a:ext cx="635000" cy="4953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F56AE8D-8F04-DF9C-EE6D-8852F841E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335" y="5062397"/>
            <a:ext cx="2997200" cy="5207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5000A36-EA1C-62E0-6DE7-DBE5199F65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721" y="4968515"/>
            <a:ext cx="1943100" cy="762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C52C10B-0CB3-66F6-6395-55E00947CF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619" y="5738312"/>
            <a:ext cx="2775163" cy="64187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FA63A73-7C7E-254D-00E0-CFA7B6C670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861" y="4954447"/>
            <a:ext cx="14986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67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FFD236-07B3-F1F7-E2E1-0F0697C952BC}"/>
              </a:ext>
            </a:extLst>
          </p:cNvPr>
          <p:cNvSpPr txBox="1"/>
          <p:nvPr/>
        </p:nvSpPr>
        <p:spPr>
          <a:xfrm>
            <a:off x="622427" y="3869552"/>
            <a:ext cx="6098514" cy="1669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transitioned global services for Synchrony (25,000 users), integrated Salesforce into BAU, and stabilised major programmes through structured service readiness. I ensured operational teams were prepared, documentation was complete, and services were supportable from day one.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3B7FF8-2DEB-098A-62FE-25DC1EE9ABC7}"/>
              </a:ext>
            </a:extLst>
          </p:cNvPr>
          <p:cNvSpPr txBox="1"/>
          <p:nvPr/>
        </p:nvSpPr>
        <p:spPr>
          <a:xfrm>
            <a:off x="622427" y="585209"/>
            <a:ext cx="6098514" cy="2257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40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Service Transition &amp; BAU Integration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40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lang="en-US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27338-147D-4AA3-17F8-44B7F19BBC08}"/>
              </a:ext>
            </a:extLst>
          </p:cNvPr>
          <p:cNvSpPr txBox="1"/>
          <p:nvPr/>
        </p:nvSpPr>
        <p:spPr>
          <a:xfrm>
            <a:off x="622427" y="2526784"/>
            <a:ext cx="6557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Service Transition &amp; BAU Readiness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28BB81-B4B9-81BE-94BE-1C033F50E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880" y="4323236"/>
            <a:ext cx="2108200" cy="76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55582A-123C-EBA0-E235-E27873463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870" y="1369743"/>
            <a:ext cx="20701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77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2D73F1-4866-9440-1085-5446C8875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245" y="4636404"/>
            <a:ext cx="3510140" cy="960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7CFF1D-23A7-7141-2A51-13DE7BFA2D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21" y="2849625"/>
            <a:ext cx="3508165" cy="13114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F7328B-969F-0AE7-59FB-F54CFA8E77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20" y="958096"/>
            <a:ext cx="3508165" cy="1275696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41C67D0-A496-4B86-BF61-263FF9EFD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6068" y="320442"/>
            <a:ext cx="6572492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191E3-471B-12EC-0B08-D437B546DAB2}"/>
              </a:ext>
            </a:extLst>
          </p:cNvPr>
          <p:cNvSpPr txBox="1"/>
          <p:nvPr/>
        </p:nvSpPr>
        <p:spPr>
          <a:xfrm>
            <a:off x="367752" y="2231465"/>
            <a:ext cx="4617334" cy="19296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1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A740F-5ECC-1682-E404-D536B9FB76C2}"/>
              </a:ext>
            </a:extLst>
          </p:cNvPr>
          <p:cNvSpPr txBox="1"/>
          <p:nvPr/>
        </p:nvSpPr>
        <p:spPr>
          <a:xfrm>
            <a:off x="773318" y="693325"/>
            <a:ext cx="45795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Cloud, Platforms &amp; Application Services</a:t>
            </a:r>
            <a:endParaRPr lang="en-US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192F80-7FB9-28A9-5229-A0FD3AB4C21F}"/>
              </a:ext>
            </a:extLst>
          </p:cNvPr>
          <p:cNvSpPr txBox="1"/>
          <p:nvPr/>
        </p:nvSpPr>
        <p:spPr>
          <a:xfrm>
            <a:off x="773318" y="2793927"/>
            <a:ext cx="43821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Cloud, Platforms &amp; Application Services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7AA347-C67E-45B4-7181-BE55DCBDFEEA}"/>
              </a:ext>
            </a:extLst>
          </p:cNvPr>
          <p:cNvSpPr txBox="1"/>
          <p:nvPr/>
        </p:nvSpPr>
        <p:spPr>
          <a:xfrm>
            <a:off x="773319" y="3781779"/>
            <a:ext cx="4853542" cy="23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 </a:t>
            </a:r>
            <a:r>
              <a:rPr lang="en-US" sz="18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delivered AWS migration and SaaS integration for Telefonica, led ServiceNow development and platform uplift, and supported secure hosted infrastructure for </a:t>
            </a:r>
            <a:r>
              <a:rPr lang="en-US" sz="18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Mitie</a:t>
            </a:r>
            <a:r>
              <a:rPr lang="en-US" sz="18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and the Home Office. My work shows breadth across cloud, platform, and application services with strong governance and delivery control.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899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6C4214-1991-6B69-D3C2-68ACAD16ACCC}"/>
              </a:ext>
            </a:extLst>
          </p:cNvPr>
          <p:cNvSpPr txBox="1"/>
          <p:nvPr/>
        </p:nvSpPr>
        <p:spPr>
          <a:xfrm>
            <a:off x="6771239" y="3429000"/>
            <a:ext cx="4784504" cy="2397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AdminRe and DWP highlight my capability in complex, multi‑stream migration and infrastructure modernisation. I brought structure, clarity, and delivery discipline to challenging environments with high operational impact.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3F4BB-D981-5539-6030-8DB1E3ED0B70}"/>
              </a:ext>
            </a:extLst>
          </p:cNvPr>
          <p:cNvSpPr txBox="1"/>
          <p:nvPr/>
        </p:nvSpPr>
        <p:spPr>
          <a:xfrm>
            <a:off x="396090" y="597783"/>
            <a:ext cx="11511732" cy="225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40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Legacy, Migration &amp; Infrastructure Modernisation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40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lang="en-US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FF244-9680-E544-1CFF-AE1E095732FB}"/>
              </a:ext>
            </a:extLst>
          </p:cNvPr>
          <p:cNvSpPr txBox="1"/>
          <p:nvPr/>
        </p:nvSpPr>
        <p:spPr>
          <a:xfrm>
            <a:off x="422495" y="2393916"/>
            <a:ext cx="6519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Identity, Messaging &amp; Virtualisation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670134-7703-9B5F-FF1F-77FB31E0BCF1}"/>
              </a:ext>
            </a:extLst>
          </p:cNvPr>
          <p:cNvSpPr txBox="1"/>
          <p:nvPr/>
        </p:nvSpPr>
        <p:spPr>
          <a:xfrm>
            <a:off x="422495" y="3451385"/>
            <a:ext cx="57778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Santander, the MET Office, and </a:t>
            </a:r>
            <a:r>
              <a:rPr lang="en-GB" sz="1800" kern="1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Unipart</a:t>
            </a:r>
            <a:r>
              <a:rPr lang="en-GB" sz="1800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demonstrate my ability to modernise legacy estates, uplift identity and messaging platforms, and deliver virtualisation programmes with minimal disruption.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9356B3-DAC4-51CF-53DC-3A69BF8F3BE9}"/>
              </a:ext>
            </a:extLst>
          </p:cNvPr>
          <p:cNvSpPr txBox="1"/>
          <p:nvPr/>
        </p:nvSpPr>
        <p:spPr>
          <a:xfrm>
            <a:off x="6771239" y="2209249"/>
            <a:ext cx="50246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kern="1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Large‑Scale Migration &amp; Multi‑Stream Portfolios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009E2C-7D21-8FA7-B350-581126CC6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90" y="4950340"/>
            <a:ext cx="1943100" cy="76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6922E4-80BD-9744-938E-50F4113A7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53" y="5663317"/>
            <a:ext cx="2197100" cy="596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E164F3-4082-61AC-3865-536E056AF6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430" y="4950340"/>
            <a:ext cx="1981200" cy="762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BFE0D8-3F32-6B31-C3DB-61787FB204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150" y="5663317"/>
            <a:ext cx="1257300" cy="889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17BE81-DEF1-F11B-4301-05E30107F2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146" y="5824231"/>
            <a:ext cx="21209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2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51CADEC-0316-226E-D836-5E9F98BE5EDA}"/>
              </a:ext>
            </a:extLst>
          </p:cNvPr>
          <p:cNvSpPr txBox="1"/>
          <p:nvPr/>
        </p:nvSpPr>
        <p:spPr>
          <a:xfrm>
            <a:off x="2816296" y="958220"/>
            <a:ext cx="6098514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2B375E-5361-93EB-36C5-F7AF0F3612E8}"/>
              </a:ext>
            </a:extLst>
          </p:cNvPr>
          <p:cNvSpPr txBox="1"/>
          <p:nvPr/>
        </p:nvSpPr>
        <p:spPr>
          <a:xfrm>
            <a:off x="798466" y="639735"/>
            <a:ext cx="98478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Pre‑Sales &amp; Commercial </a:t>
            </a:r>
            <a:r>
              <a:rPr lang="en-GB" sz="4000" b="1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Leadership </a:t>
            </a:r>
            <a:r>
              <a:rPr lang="en-US" sz="4000" b="1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en-US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AA8666-85F4-A22F-2AD5-8CF49CE1B89A}"/>
              </a:ext>
            </a:extLst>
          </p:cNvPr>
          <p:cNvSpPr txBox="1"/>
          <p:nvPr/>
        </p:nvSpPr>
        <p:spPr>
          <a:xfrm>
            <a:off x="798466" y="1752538"/>
            <a:ext cx="6098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Pre‑Sales &amp; Commercial Leadership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0063E5-C8F7-B4A0-9505-1FC2BFC2C643}"/>
              </a:ext>
            </a:extLst>
          </p:cNvPr>
          <p:cNvSpPr txBox="1"/>
          <p:nvPr/>
        </p:nvSpPr>
        <p:spPr>
          <a:xfrm>
            <a:off x="798465" y="2846187"/>
            <a:ext cx="7135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 </a:t>
            </a:r>
            <a:r>
              <a:rPr lang="en-US" sz="1800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supported tendering, solution design, and commercial </a:t>
            </a:r>
            <a:r>
              <a:rPr lang="en-US" sz="1800" dirty="0" err="1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modelling</a:t>
            </a:r>
            <a:r>
              <a:rPr lang="en-US" sz="1800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across major bids, ensuring proposals were deliverable, costed, and aligned with operational reality.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943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F3F9A7D-DC78-040C-28FD-5A2F91E1572A}"/>
              </a:ext>
            </a:extLst>
          </p:cNvPr>
          <p:cNvSpPr txBox="1"/>
          <p:nvPr/>
        </p:nvSpPr>
        <p:spPr>
          <a:xfrm>
            <a:off x="5829323" y="1697353"/>
            <a:ext cx="5709721" cy="243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2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  <a:effectLst/>
              </a:rPr>
              <a:t> 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2"/>
                </a:solidFill>
                <a:effectLst/>
              </a:rPr>
              <a:t>I </a:t>
            </a:r>
            <a:endParaRPr lang="en-US" sz="10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6DE802F-3284-3AD9-8A8D-EEE3F86E806C}"/>
              </a:ext>
            </a:extLst>
          </p:cNvPr>
          <p:cNvSpPr txBox="1"/>
          <p:nvPr/>
        </p:nvSpPr>
        <p:spPr>
          <a:xfrm>
            <a:off x="644431" y="626581"/>
            <a:ext cx="61173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What I Bring</a:t>
            </a:r>
            <a:endParaRPr lang="en-US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D0F5DF-83CA-18A6-4AF6-BA8A039DD067}"/>
              </a:ext>
            </a:extLst>
          </p:cNvPr>
          <p:cNvSpPr txBox="1"/>
          <p:nvPr/>
        </p:nvSpPr>
        <p:spPr>
          <a:xfrm>
            <a:off x="3033539" y="1157883"/>
            <a:ext cx="611737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5617C3-7C9A-1ADA-FDB6-95A58C79F2C1}"/>
              </a:ext>
            </a:extLst>
          </p:cNvPr>
          <p:cNvSpPr txBox="1"/>
          <p:nvPr/>
        </p:nvSpPr>
        <p:spPr>
          <a:xfrm>
            <a:off x="731698" y="2244949"/>
            <a:ext cx="10721058" cy="3393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2"/>
                </a:solidFill>
                <a:effectLst/>
              </a:rPr>
              <a:t>I </a:t>
            </a:r>
            <a:r>
              <a:rPr lang="en-US" sz="1800" dirty="0">
                <a:solidFill>
                  <a:schemeClr val="tx2"/>
                </a:solidFill>
                <a:effectLst/>
              </a:rPr>
              <a:t>combine delivery discipline with cross‑domain transformation experience, bringing structure, clarity, and assurance to complex </a:t>
            </a:r>
            <a:r>
              <a:rPr lang="en-US" sz="1800" dirty="0" err="1">
                <a:solidFill>
                  <a:schemeClr val="tx2"/>
                </a:solidFill>
                <a:effectLst/>
              </a:rPr>
              <a:t>programmes</a:t>
            </a:r>
            <a:r>
              <a:rPr lang="en-US" sz="1800" dirty="0">
                <a:solidFill>
                  <a:schemeClr val="tx2"/>
                </a:solidFill>
                <a:effectLst/>
              </a:rPr>
              <a:t>. My leadership strengthens execution, </a:t>
            </a:r>
            <a:r>
              <a:rPr lang="en-US" sz="1800" dirty="0" err="1">
                <a:solidFill>
                  <a:schemeClr val="tx2"/>
                </a:solidFill>
                <a:effectLst/>
              </a:rPr>
              <a:t>stabilises</a:t>
            </a:r>
            <a:r>
              <a:rPr lang="en-US" sz="1800" dirty="0">
                <a:solidFill>
                  <a:schemeClr val="tx2"/>
                </a:solidFill>
                <a:effectLst/>
              </a:rPr>
              <a:t> delivery, and ensures services are secure, resilient, and ready for BAU. I work confidently across infrastructure, cyber, cloud, identity, and service transition, aligning technical delivery with operational readiness and stakeholder expectations.</a:t>
            </a:r>
            <a:endParaRPr lang="en-GB" sz="1800" dirty="0">
              <a:solidFill>
                <a:schemeClr val="tx2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effectLst/>
              </a:rPr>
              <a:t>I bring a repeatable approach that works across sectors — financial services, utilities, government, healthcare, aviation, and education. I create momentum in challenging environments, simplify complexity, and build confidence through governance, communication, and practical delivery leadership. My focus on outcomes, adoption, and long‑term service sustainability ensures </a:t>
            </a:r>
            <a:r>
              <a:rPr lang="en-US" sz="1800" dirty="0" err="1">
                <a:solidFill>
                  <a:schemeClr val="tx2"/>
                </a:solidFill>
                <a:effectLst/>
              </a:rPr>
              <a:t>programmes</a:t>
            </a:r>
            <a:r>
              <a:rPr lang="en-US" sz="1800" dirty="0">
                <a:solidFill>
                  <a:schemeClr val="tx2"/>
                </a:solidFill>
                <a:effectLst/>
              </a:rPr>
              <a:t> land cleanly and deliver measurable value.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45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 Williams, TWC LtdSenior Project Manager | PMO Manager | Service Transition Lead</dc:title>
  <dc:creator>Tim Williams</dc:creator>
  <cp:lastModifiedBy>Tim Williams</cp:lastModifiedBy>
  <cp:revision>4</cp:revision>
  <dcterms:created xsi:type="dcterms:W3CDTF">2026-03-17T03:06:18Z</dcterms:created>
  <dcterms:modified xsi:type="dcterms:W3CDTF">2026-03-18T22:46:34Z</dcterms:modified>
</cp:coreProperties>
</file>