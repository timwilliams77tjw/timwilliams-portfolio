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fdf73a8-3c41-e019-5c3b-6408fedbc1db}">
          <p14:sldIdLst>
            <p14:sldId id="256"/>
          </p14:sldIdLst>
        </p14:section>
        <p14:section name="Leadership &amp; fit" id="{41f37e4c-e1c6-8c1f-026f-13518f53f483}">
          <p14:sldIdLst>
            <p14:sldId id="257"/>
            <p14:sldId id="258"/>
            <p14:sldId id="259"/>
          </p14:sldIdLst>
        </p14:section>
        <p14:section name="Leadership &amp; fit" id="{ff4023c5-e202-bc69-fbfc-1416eb9a8f08}">
          <p14:sldIdLst/>
        </p14:section>
        <p14:section name="Leadership &amp; fit" id="{32746236-6ab3-4613-546f-75c0e1cd06f2}">
          <p14:sldIdLst/>
        </p14:section>
        <p14:section name="Infrastructure &amp; EUC" id="{fca48f19-fb63-cd8a-9040-d9facd3358dc}">
          <p14:sldIdLst>
            <p14:sldId id="260"/>
          </p14:sldIdLst>
        </p14:section>
        <p14:section name="Cybersecurity &amp; identity" id="{78de20ed-0d3b-0b93-b5ec-052d34c5e63a}">
          <p14:sldIdLst>
            <p14:sldId id="261"/>
          </p14:sldIdLst>
        </p14:section>
        <p14:section name="PMO leadership" id="{1048a64f-616d-02a1-cc26-d14110378b8b}">
          <p14:sldIdLst>
            <p14:sldId id="262"/>
          </p14:sldIdLst>
        </p14:section>
        <p14:section name="Service transition" id="{068c37c8-c24f-7f9f-91d1-224adcc38b69}">
          <p14:sldIdLst>
            <p14:sldId id="263"/>
          </p14:sldIdLst>
        </p14:section>
        <p14:section name="Cloud &amp; platforms" id="{f23d27a3-13ed-d917-1abc-30086a26fca3}">
          <p14:sldIdLst>
            <p14:sldId id="264"/>
          </p14:sldIdLst>
        </p14:section>
        <p14:section name="Legacy &amp; migration" id="{2d51b57e-f554-f9ea-e821-5ac6a70f5e1b}">
          <p14:sldIdLst>
            <p14:sldId id="265"/>
          </p14:sldIdLst>
        </p14:section>
        <p14:section name="Pre-sales" id="{0af34b04-6904-a7ae-28dd-aefe7a77ffd9}">
          <p14:sldIdLst>
            <p14:sldId id="266"/>
          </p14:sldIdLst>
        </p14:section>
        <p14:section name="Close" id="{ccc0080a-60b9-3009-aa78-45fa22128ad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4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14884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93192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Tim Williams  ·  TWC Ltd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Tim Williams  ·  TWC Ltd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214884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Tim Williams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9319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Senior Project Manager  |  PMO Manager  |  Service Transition Lead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Driving infrastructure, cyber and service transition programmes with governance and assurance</a:t>
            </a:r>
            <a:endParaRPr lang="en-US" sz="1800" dirty="0"/>
          </a:p>
        </p:txBody>
      </p:sp>
      <p:sp>
        <p:nvSpPr>
          <p:cNvPr id="4" name="Kicker"/>
          <p:cNvSpPr txBox="1"/>
          <p:nvPr/>
        </p:nvSpPr>
        <p:spPr>
          <a:xfrm>
            <a:off x="82296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TWC LTD  ·  PROFESSIONAL PORTFOLIO</a:t>
            </a:r>
            <a:endParaRPr lang="en-US" sz="1200" dirty="0"/>
          </a:p>
        </p:txBody>
      </p:sp>
      <p:sp>
        <p:nvSpPr>
          <p:cNvPr id="5" name="Photo ring"/>
          <p:cNvSpPr/>
          <p:nvPr/>
        </p:nvSpPr>
        <p:spPr>
          <a:xfrm>
            <a:off x="8366760" y="1417320"/>
            <a:ext cx="3200400" cy="3200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ortrait of Tim Willi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508760"/>
            <a:ext cx="3017520" cy="3017520"/>
          </a:xfrm>
          <a:prstGeom prst="ellipse">
            <a:avLst/>
          </a:prstGeom>
        </p:spPr>
      </p:pic>
      <p:sp>
        <p:nvSpPr>
          <p:cNvPr id="7" name="Logo tile"/>
          <p:cNvSpPr/>
          <p:nvPr/>
        </p:nvSpPr>
        <p:spPr>
          <a:xfrm>
            <a:off x="9144000" y="4983480"/>
            <a:ext cx="16459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</p:spPr>
      </p:sp>
      <p:pic>
        <p:nvPicPr>
          <p:cNvPr id="8" name="Image 1" descr="Tim Williams Consulting Ltd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047488"/>
            <a:ext cx="1463040" cy="13067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Execution certainty for complex programmes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4" name="Summary text"/>
          <p:cNvSpPr txBox="1"/>
          <p:nvPr/>
        </p:nvSpPr>
        <p:spPr>
          <a:xfrm>
            <a:off x="640080" y="178308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chemeClr val="tx1"/>
                </a:solidFill>
              </a:rPr>
              <a:t>I deliver large-scale IT, infrastructure and cyber programmes with a focus on execution certainty, operational readiness and governance — from national EUC transformations and identity uplift to PMO leadership and service transition in complex, regulated, multi-vendor environments.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My track record is repeatable across sectors. I stabilise programmes, drive adoption and make sure services are secure, resilient and ready for BAU — through practical delivery, strong stakeholder engagement and measurable outcomes.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SECTORS DELIVERED ACROSS</a:t>
            </a:r>
            <a:endParaRPr lang="en-US" sz="1100" dirty="0"/>
          </a:p>
        </p:txBody>
      </p:sp>
      <p:sp>
        <p:nvSpPr>
          <p:cNvPr id="6" name="Chip Financial services"/>
          <p:cNvSpPr/>
          <p:nvPr/>
        </p:nvSpPr>
        <p:spPr>
          <a:xfrm>
            <a:off x="640080" y="5212080"/>
            <a:ext cx="181051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521208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Financial services</a:t>
            </a:r>
            <a:endParaRPr lang="en-US" sz="1150" dirty="0"/>
          </a:p>
        </p:txBody>
      </p:sp>
      <p:sp>
        <p:nvSpPr>
          <p:cNvPr id="8" name="Chip Utilities"/>
          <p:cNvSpPr/>
          <p:nvPr/>
        </p:nvSpPr>
        <p:spPr>
          <a:xfrm>
            <a:off x="2560320" y="5212080"/>
            <a:ext cx="1110996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60320" y="521208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Utilities</a:t>
            </a:r>
            <a:endParaRPr lang="en-US" sz="1150" dirty="0"/>
          </a:p>
        </p:txBody>
      </p:sp>
      <p:sp>
        <p:nvSpPr>
          <p:cNvPr id="10" name="Chip Government"/>
          <p:cNvSpPr/>
          <p:nvPr/>
        </p:nvSpPr>
        <p:spPr>
          <a:xfrm>
            <a:off x="3781044" y="521208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81044" y="5212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Government</a:t>
            </a:r>
            <a:endParaRPr lang="en-US" sz="1150" dirty="0"/>
          </a:p>
        </p:txBody>
      </p:sp>
      <p:sp>
        <p:nvSpPr>
          <p:cNvPr id="12" name="Chip Healthcare"/>
          <p:cNvSpPr/>
          <p:nvPr/>
        </p:nvSpPr>
        <p:spPr>
          <a:xfrm>
            <a:off x="640080" y="562356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623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Healthcare</a:t>
            </a:r>
            <a:endParaRPr lang="en-US" sz="1150" dirty="0"/>
          </a:p>
        </p:txBody>
      </p:sp>
      <p:sp>
        <p:nvSpPr>
          <p:cNvPr id="14" name="Chip Aviation"/>
          <p:cNvSpPr/>
          <p:nvPr/>
        </p:nvSpPr>
        <p:spPr>
          <a:xfrm>
            <a:off x="1938528" y="5623560"/>
            <a:ext cx="103327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38528" y="5623560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Aviation</a:t>
            </a:r>
            <a:endParaRPr lang="en-US" sz="1150" dirty="0"/>
          </a:p>
        </p:txBody>
      </p:sp>
      <p:sp>
        <p:nvSpPr>
          <p:cNvPr id="16" name="Chip Education"/>
          <p:cNvSpPr/>
          <p:nvPr/>
        </p:nvSpPr>
        <p:spPr>
          <a:xfrm>
            <a:off x="3081528" y="5623560"/>
            <a:ext cx="1110996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81528" y="562356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Education</a:t>
            </a:r>
            <a:endParaRPr lang="en-US" sz="1150" dirty="0"/>
          </a:p>
        </p:txBody>
      </p:sp>
      <p:sp>
        <p:nvSpPr>
          <p:cNvPr id="18" name="Stat 126,000"/>
          <p:cNvSpPr/>
          <p:nvPr/>
        </p:nvSpPr>
        <p:spPr>
          <a:xfrm>
            <a:off x="7251192" y="1783080"/>
            <a:ext cx="2057400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34072" y="2011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126,000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devices refreshed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Tesco</a:t>
            </a:r>
            <a:endParaRPr lang="en-US" sz="1200" dirty="0"/>
          </a:p>
        </p:txBody>
      </p:sp>
      <p:sp>
        <p:nvSpPr>
          <p:cNvPr id="22" name="Stat 46,000"/>
          <p:cNvSpPr/>
          <p:nvPr/>
        </p:nvSpPr>
        <p:spPr>
          <a:xfrm>
            <a:off x="9491472" y="1783080"/>
            <a:ext cx="20574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74352" y="2011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46,000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users modernised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74352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HSBC UK</a:t>
            </a:r>
            <a:endParaRPr lang="en-US" sz="1200" dirty="0"/>
          </a:p>
        </p:txBody>
      </p:sp>
      <p:sp>
        <p:nvSpPr>
          <p:cNvPr id="26" name="Stat 32,000+"/>
          <p:cNvSpPr/>
          <p:nvPr/>
        </p:nvSpPr>
        <p:spPr>
          <a:xfrm>
            <a:off x="7251192" y="3794760"/>
            <a:ext cx="20574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34072" y="4023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32,000+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7434072" y="4709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devices rolled out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34072" y="50566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United Utilities &amp; NFUM</a:t>
            </a:r>
            <a:endParaRPr lang="en-US" sz="1200" dirty="0"/>
          </a:p>
        </p:txBody>
      </p:sp>
      <p:sp>
        <p:nvSpPr>
          <p:cNvPr id="30" name="Stat 25,000"/>
          <p:cNvSpPr/>
          <p:nvPr/>
        </p:nvSpPr>
        <p:spPr>
          <a:xfrm>
            <a:off x="9491472" y="3794760"/>
            <a:ext cx="2057400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74352" y="4023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25,000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674352" y="4709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users transitioned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674352" y="50566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Synchrony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Order, momentum and assurance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LEADERSHIP MODEL</a:t>
            </a:r>
            <a:endParaRPr lang="en-US" sz="1100" dirty="0"/>
          </a:p>
        </p:txBody>
      </p:sp>
      <p:sp>
        <p:nvSpPr>
          <p:cNvPr id="4" name="Pillar 1"/>
          <p:cNvSpPr/>
          <p:nvPr/>
        </p:nvSpPr>
        <p:spPr>
          <a:xfrm>
            <a:off x="640080" y="1691640"/>
            <a:ext cx="5358384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868680" y="19476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Governance &amp; Delivery Control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50008"/>
            <a:ext cx="4261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Clear frameworks, reporting rhythms and decision pathways that stabilise programmes under pressure — risks, dependencies and scope are actively controlled, not just observed.</a:t>
            </a:r>
            <a:endParaRPr lang="en-US" sz="1300" dirty="0"/>
          </a:p>
        </p:txBody>
      </p:sp>
      <p:sp>
        <p:nvSpPr>
          <p:cNvPr id="9" name="Pillar 2"/>
          <p:cNvSpPr/>
          <p:nvPr/>
        </p:nvSpPr>
        <p:spPr>
          <a:xfrm>
            <a:off x="6190488" y="1691640"/>
            <a:ext cx="5358384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6419088" y="19476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1908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92024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Operational Readiness &amp; Sustainability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350008"/>
            <a:ext cx="4261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Service transition embedded early, so documentation, support models and processes are in place before go-live. Built for long-term stability, not just deployment success.</a:t>
            </a:r>
            <a:endParaRPr lang="en-US" sz="1300" dirty="0"/>
          </a:p>
        </p:txBody>
      </p:sp>
      <p:sp>
        <p:nvSpPr>
          <p:cNvPr id="14" name="Pillar 3"/>
          <p:cNvSpPr/>
          <p:nvPr/>
        </p:nvSpPr>
        <p:spPr>
          <a:xfrm>
            <a:off x="640080" y="3566160"/>
            <a:ext cx="5358384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868680" y="3822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9476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Stakeholder Alignment &amp; Communication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24528"/>
            <a:ext cx="4261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Complexity translated into clear, actionable narratives that build confidence across technical, operational and executive audiences — enabling faster decisions.</a:t>
            </a:r>
            <a:endParaRPr lang="en-US" sz="1300" dirty="0"/>
          </a:p>
        </p:txBody>
      </p:sp>
      <p:sp>
        <p:nvSpPr>
          <p:cNvPr id="19" name="Pillar 4"/>
          <p:cNvSpPr/>
          <p:nvPr/>
        </p:nvSpPr>
        <p:spPr>
          <a:xfrm>
            <a:off x="6190488" y="3566160"/>
            <a:ext cx="5358384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0" name="Badge 4"/>
          <p:cNvSpPr/>
          <p:nvPr/>
        </p:nvSpPr>
        <p:spPr>
          <a:xfrm>
            <a:off x="6419088" y="3822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1908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79476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Outcome-Based Delivery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224528"/>
            <a:ext cx="4261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Delivery driven toward measurable results — adoption, stability, risk reduction and operational improvement — landing with the intended business and service impact.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86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CERTIFIED &amp; ACCREDITED</a:t>
            </a:r>
            <a:endParaRPr lang="en-US" sz="1100" dirty="0"/>
          </a:p>
        </p:txBody>
      </p:sp>
      <p:sp>
        <p:nvSpPr>
          <p:cNvPr id="25" name="Tile PRINCE2"/>
          <p:cNvSpPr/>
          <p:nvPr/>
        </p:nvSpPr>
        <p:spPr>
          <a:xfrm>
            <a:off x="2743200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0" descr="PRINCE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5760916"/>
            <a:ext cx="797814" cy="136768"/>
          </a:xfrm>
          <a:prstGeom prst="rect">
            <a:avLst/>
          </a:prstGeom>
        </p:spPr>
      </p:pic>
      <p:sp>
        <p:nvSpPr>
          <p:cNvPr id="27" name="Tile APM"/>
          <p:cNvSpPr/>
          <p:nvPr/>
        </p:nvSpPr>
        <p:spPr>
          <a:xfrm>
            <a:off x="3861054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8" name="Image 1" descr="AP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94" y="5745686"/>
            <a:ext cx="797814" cy="167227"/>
          </a:xfrm>
          <a:prstGeom prst="rect">
            <a:avLst/>
          </a:prstGeom>
        </p:spPr>
      </p:pic>
      <p:sp>
        <p:nvSpPr>
          <p:cNvPr id="29" name="Tile PMI"/>
          <p:cNvSpPr/>
          <p:nvPr/>
        </p:nvSpPr>
        <p:spPr>
          <a:xfrm>
            <a:off x="4978908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2" descr="PM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083" y="5577840"/>
            <a:ext cx="474345" cy="502920"/>
          </a:xfrm>
          <a:prstGeom prst="rect">
            <a:avLst/>
          </a:prstGeom>
        </p:spPr>
      </p:pic>
      <p:sp>
        <p:nvSpPr>
          <p:cNvPr id="31" name="Tile Six Sigma"/>
          <p:cNvSpPr/>
          <p:nvPr/>
        </p:nvSpPr>
        <p:spPr>
          <a:xfrm>
            <a:off x="6096762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Image 3" descr="Six Sigm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202" y="5685662"/>
            <a:ext cx="797814" cy="287275"/>
          </a:xfrm>
          <a:prstGeom prst="rect">
            <a:avLst/>
          </a:prstGeom>
        </p:spPr>
      </p:pic>
      <p:sp>
        <p:nvSpPr>
          <p:cNvPr id="33" name="Tile ITIL"/>
          <p:cNvSpPr/>
          <p:nvPr/>
        </p:nvSpPr>
        <p:spPr>
          <a:xfrm>
            <a:off x="7214616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4" name="Image 4" descr="ITI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5705865"/>
            <a:ext cx="797814" cy="246871"/>
          </a:xfrm>
          <a:prstGeom prst="rect">
            <a:avLst/>
          </a:prstGeom>
        </p:spPr>
      </p:pic>
      <p:sp>
        <p:nvSpPr>
          <p:cNvPr id="35" name="Tile Atlassian"/>
          <p:cNvSpPr/>
          <p:nvPr/>
        </p:nvSpPr>
        <p:spPr>
          <a:xfrm>
            <a:off x="8332470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6" name="Image 5" descr="Atlassia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5760198"/>
            <a:ext cx="797814" cy="138204"/>
          </a:xfrm>
          <a:prstGeom prst="rect">
            <a:avLst/>
          </a:prstGeom>
        </p:spPr>
      </p:pic>
      <p:sp>
        <p:nvSpPr>
          <p:cNvPr id="37" name="Tile CompTIA"/>
          <p:cNvSpPr/>
          <p:nvPr/>
        </p:nvSpPr>
        <p:spPr>
          <a:xfrm>
            <a:off x="9450324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8" name="Image 6" descr="CompTI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1764" y="5740118"/>
            <a:ext cx="797814" cy="178363"/>
          </a:xfrm>
          <a:prstGeom prst="rect">
            <a:avLst/>
          </a:prstGeom>
        </p:spPr>
      </p:pic>
      <p:sp>
        <p:nvSpPr>
          <p:cNvPr id="39" name="Tile Credential badge"/>
          <p:cNvSpPr/>
          <p:nvPr/>
        </p:nvSpPr>
        <p:spPr>
          <a:xfrm>
            <a:off x="10568178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0" name="Image 7" descr="Credential badg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9918" y="5577840"/>
            <a:ext cx="577215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I fit and where I add most value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ROLE FIT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operate confidently in senior delivery and governance roles where structure, assurance and operational readiness are critical to success.</a:t>
            </a:r>
            <a:endParaRPr lang="en-US" sz="1500" dirty="0"/>
          </a:p>
        </p:txBody>
      </p:sp>
      <p:sp>
        <p:nvSpPr>
          <p:cNvPr id="5" name="Column ROLES I FIT"/>
          <p:cNvSpPr/>
          <p:nvPr/>
        </p:nvSpPr>
        <p:spPr>
          <a:xfrm>
            <a:off x="640080" y="2286000"/>
            <a:ext cx="3520440" cy="38862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6" name="Accent rule"/>
          <p:cNvSpPr/>
          <p:nvPr/>
        </p:nvSpPr>
        <p:spPr>
          <a:xfrm>
            <a:off x="914400" y="2560320"/>
            <a:ext cx="4572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ROLES I FIT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Senior Project Manager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Programme Manager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PMO Manager / PMO Lead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Service Transition Lead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Delivery Assurance Lead</a:t>
            </a:r>
            <a:endParaRPr lang="en-US" sz="1550" dirty="0"/>
          </a:p>
        </p:txBody>
      </p:sp>
      <p:sp>
        <p:nvSpPr>
          <p:cNvPr id="9" name="Column WHERE I ADD MOST VALUE"/>
          <p:cNvSpPr/>
          <p:nvPr/>
        </p:nvSpPr>
        <p:spPr>
          <a:xfrm>
            <a:off x="4334256" y="2286000"/>
            <a:ext cx="3520440" cy="38862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0" name="Accent rule"/>
          <p:cNvSpPr/>
          <p:nvPr/>
        </p:nvSpPr>
        <p:spPr>
          <a:xfrm>
            <a:off x="4608576" y="2560320"/>
            <a:ext cx="4572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WHERE I ADD MOST VALUE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320040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Complex, multi-vendor environments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Regulated sectors with high governance expectations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Programmes needing stabilisation, recovery or delivery discipline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Transformations with significant operational impact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Services transitioning into BAU with sustainability requirements</a:t>
            </a:r>
            <a:endParaRPr lang="en-US" sz="1550" dirty="0"/>
          </a:p>
        </p:txBody>
      </p:sp>
      <p:sp>
        <p:nvSpPr>
          <p:cNvPr id="13" name="Column WHAT ORGANISATIONS GAIN"/>
          <p:cNvSpPr/>
          <p:nvPr/>
        </p:nvSpPr>
        <p:spPr>
          <a:xfrm>
            <a:off x="8028432" y="2286000"/>
            <a:ext cx="3520440" cy="3886200"/>
          </a:xfrm>
          <a:prstGeom prst="roundRect">
            <a:avLst>
              <a:gd name="adj" fmla="val 2597"/>
            </a:avLst>
          </a:prstGeom>
          <a:solidFill>
            <a:schemeClr val="tx2"/>
          </a:solidFill>
          <a:ln/>
        </p:spPr>
      </p:sp>
      <p:sp>
        <p:nvSpPr>
          <p:cNvPr id="14" name="Accent rule"/>
          <p:cNvSpPr/>
          <p:nvPr/>
        </p:nvSpPr>
        <p:spPr>
          <a:xfrm>
            <a:off x="8302752" y="2560320"/>
            <a:ext cx="45720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2752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ORGANISATIONS GAIN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320040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Predictable, controlled delivery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Strong governance and reporting discipline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Confident stakeholder alignment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Clean, stable service landings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Measurable operational and risk outcomes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Delivering EUC change at national scale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GLOBAL INFRASTRUCTURE &amp; EUC TRANSFORMATIONS</a:t>
            </a:r>
            <a:endParaRPr lang="en-US" sz="1100" dirty="0"/>
          </a:p>
        </p:txBody>
      </p:sp>
      <p:sp>
        <p:nvSpPr>
          <p:cNvPr id="4" name="Card NATIONAL-SCALE EUC"/>
          <p:cNvSpPr/>
          <p:nvPr/>
        </p:nvSpPr>
        <p:spPr>
          <a:xfrm>
            <a:off x="640080" y="1691640"/>
            <a:ext cx="3520440" cy="45262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1"/>
                </a:solidFill>
              </a:rPr>
              <a:t>NATIONAL-SCALE EUC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126,000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devices refreshed — Tesco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5468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46,000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93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users modernised — HSBC UK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Coordinated multi-region deployments and complex logistics, stabilising large user estates while ensuring readiness, adoption and continuity under high regulatory and operational pressure.</a:t>
            </a:r>
            <a:endParaRPr lang="en-US" sz="1250" dirty="0"/>
          </a:p>
        </p:txBody>
      </p:sp>
      <p:sp>
        <p:nvSpPr>
          <p:cNvPr id="11" name="Tile Tesco"/>
          <p:cNvSpPr/>
          <p:nvPr/>
        </p:nvSpPr>
        <p:spPr>
          <a:xfrm>
            <a:off x="914400" y="5349240"/>
            <a:ext cx="14173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0" descr="Tes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508042"/>
            <a:ext cx="1197864" cy="368196"/>
          </a:xfrm>
          <a:prstGeom prst="rect">
            <a:avLst/>
          </a:prstGeom>
        </p:spPr>
      </p:pic>
      <p:sp>
        <p:nvSpPr>
          <p:cNvPr id="13" name="Tile HSBC UK"/>
          <p:cNvSpPr/>
          <p:nvPr/>
        </p:nvSpPr>
        <p:spPr>
          <a:xfrm>
            <a:off x="2468880" y="5349240"/>
            <a:ext cx="14173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mage 1" descr="HSBC U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5554751"/>
            <a:ext cx="1197864" cy="274779"/>
          </a:xfrm>
          <a:prstGeom prst="rect">
            <a:avLst/>
          </a:prstGeom>
        </p:spPr>
      </p:pic>
      <p:sp>
        <p:nvSpPr>
          <p:cNvPr id="15" name="Card MODERN WORKPLACE &amp; CLOUD"/>
          <p:cNvSpPr/>
          <p:nvPr/>
        </p:nvSpPr>
        <p:spPr>
          <a:xfrm>
            <a:off x="4334256" y="1691640"/>
            <a:ext cx="3520440" cy="45262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608576" y="1920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1"/>
                </a:solidFill>
              </a:rPr>
              <a:t>MODERN WORKPLACE &amp; CLOUD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608576" y="237744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32,000+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4608576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devices — United Utilities &amp; NFUM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608576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Cloud-managed EUC, device lifecycle and secure configuration at scale, delivered with structured governance, stakeholder alignment and controlled rollout to keep platforms stable and supportable.</a:t>
            </a:r>
            <a:endParaRPr lang="en-US" sz="1250" dirty="0"/>
          </a:p>
        </p:txBody>
      </p:sp>
      <p:sp>
        <p:nvSpPr>
          <p:cNvPr id="20" name="Tile United Utilities"/>
          <p:cNvSpPr/>
          <p:nvPr/>
        </p:nvSpPr>
        <p:spPr>
          <a:xfrm>
            <a:off x="4608576" y="5349240"/>
            <a:ext cx="14173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2" descr="United Utiliti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177" y="5458968"/>
            <a:ext cx="952119" cy="466344"/>
          </a:xfrm>
          <a:prstGeom prst="rect">
            <a:avLst/>
          </a:prstGeom>
        </p:spPr>
      </p:pic>
      <p:sp>
        <p:nvSpPr>
          <p:cNvPr id="22" name="Tile NFU Mutual"/>
          <p:cNvSpPr/>
          <p:nvPr/>
        </p:nvSpPr>
        <p:spPr>
          <a:xfrm>
            <a:off x="6163056" y="5349240"/>
            <a:ext cx="14173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Image 3" descr="NFU Mutu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5586819"/>
            <a:ext cx="1197864" cy="210641"/>
          </a:xfrm>
          <a:prstGeom prst="rect">
            <a:avLst/>
          </a:prstGeom>
        </p:spPr>
      </p:pic>
      <p:sp>
        <p:nvSpPr>
          <p:cNvPr id="24" name="Card SECTOR-SPECIFIC MODERNISATION"/>
          <p:cNvSpPr/>
          <p:nvPr/>
        </p:nvSpPr>
        <p:spPr>
          <a:xfrm>
            <a:off x="8028432" y="1691640"/>
            <a:ext cx="3520440" cy="45262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302752" y="1920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1"/>
                </a:solidFill>
              </a:rPr>
              <a:t>SECTOR-SPECIFIC MODERNISATION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8302752" y="237744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Teams Rooms</a:t>
            </a:r>
            <a:endParaRPr lang="en-US" sz="2400" dirty="0"/>
          </a:p>
        </p:txBody>
      </p:sp>
      <p:sp>
        <p:nvSpPr>
          <p:cNvPr id="27" name="Text 21"/>
          <p:cNvSpPr txBox="1"/>
          <p:nvPr/>
        </p:nvSpPr>
        <p:spPr>
          <a:xfrm>
            <a:off x="8302752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deployment — Newcastle University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302752" y="315468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Print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8302752" y="3593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modernisation across a diverse academic estate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302752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Technical delivery aligned with user experience, operational support and long-term service sustainability.</a:t>
            </a:r>
            <a:endParaRPr lang="en-US" sz="1250" dirty="0"/>
          </a:p>
        </p:txBody>
      </p:sp>
      <p:sp>
        <p:nvSpPr>
          <p:cNvPr id="31" name="Tile Newcastle University"/>
          <p:cNvSpPr/>
          <p:nvPr/>
        </p:nvSpPr>
        <p:spPr>
          <a:xfrm>
            <a:off x="8919972" y="53492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Image 4" descr="Newcastle Univers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0559" y="5458968"/>
            <a:ext cx="1496187" cy="4663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Raising security posture in regulated sectors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CYBERSECURITY &amp; IDENTITY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NHS England’s CAF uplift and Luton Airport’s MFA, PAM and SSO programmes show my strength in regulated cyber environments.</a:t>
            </a:r>
            <a:endParaRPr lang="en-US" sz="1600" dirty="0"/>
          </a:p>
        </p:txBody>
      </p:sp>
      <p:sp>
        <p:nvSpPr>
          <p:cNvPr id="5" name="Rule 1"/>
          <p:cNvSpPr/>
          <p:nvPr/>
        </p:nvSpPr>
        <p:spPr>
          <a:xfrm>
            <a:off x="640080" y="3017520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Identity uplift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MFA, PAM and SSO programmes.</a:t>
            </a:r>
            <a:endParaRPr lang="en-US" sz="1350" dirty="0"/>
          </a:p>
        </p:txBody>
      </p:sp>
      <p:sp>
        <p:nvSpPr>
          <p:cNvPr id="8" name="Rule 2"/>
          <p:cNvSpPr/>
          <p:nvPr/>
        </p:nvSpPr>
        <p:spPr>
          <a:xfrm>
            <a:off x="640080" y="4069080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Stronger access controls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Strengthened access across regulated environments.</a:t>
            </a:r>
            <a:endParaRPr lang="en-US" sz="1350" dirty="0"/>
          </a:p>
        </p:txBody>
      </p:sp>
      <p:sp>
        <p:nvSpPr>
          <p:cNvPr id="11" name="Rule 3"/>
          <p:cNvSpPr/>
          <p:nvPr/>
        </p:nvSpPr>
        <p:spPr>
          <a:xfrm>
            <a:off x="640080" y="5120640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Embedded governance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Frameworks that improved security posture and operational resilience.</a:t>
            </a:r>
            <a:endParaRPr lang="en-US" sz="1350" dirty="0"/>
          </a:p>
        </p:txBody>
      </p:sp>
      <p:sp>
        <p:nvSpPr>
          <p:cNvPr id="14" name="Client NHS England"/>
          <p:cNvSpPr/>
          <p:nvPr/>
        </p:nvSpPr>
        <p:spPr>
          <a:xfrm>
            <a:off x="7040880" y="1783080"/>
            <a:ext cx="450799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5" name="Tile NHS England"/>
          <p:cNvSpPr/>
          <p:nvPr/>
        </p:nvSpPr>
        <p:spPr>
          <a:xfrm>
            <a:off x="7269480" y="201168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0" descr="NHS Engl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204357"/>
            <a:ext cx="1645920" cy="126056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41832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NHS England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CAF uplift</a:t>
            </a:r>
            <a:endParaRPr lang="en-US" sz="1300" dirty="0"/>
          </a:p>
        </p:txBody>
      </p:sp>
      <p:sp>
        <p:nvSpPr>
          <p:cNvPr id="19" name="Client London Luton Airport"/>
          <p:cNvSpPr/>
          <p:nvPr/>
        </p:nvSpPr>
        <p:spPr>
          <a:xfrm>
            <a:off x="7040880" y="4069080"/>
            <a:ext cx="450799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0" name="Tile London Luton Airport"/>
          <p:cNvSpPr/>
          <p:nvPr/>
        </p:nvSpPr>
        <p:spPr>
          <a:xfrm>
            <a:off x="7269480" y="429768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1" descr="London Luton Air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765160"/>
            <a:ext cx="1645920" cy="7109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418320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London Luton Airport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9418320" y="5166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MFA, PAM &amp; SSO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PMO functions that bring structure and trust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PMO LEADERSHIP &amp; GOVERNANCE</a:t>
            </a:r>
            <a:endParaRPr lang="en-US" sz="1100" dirty="0"/>
          </a:p>
        </p:txBody>
      </p:sp>
      <p:sp>
        <p:nvSpPr>
          <p:cNvPr id="4" name="Card PMO BUILD &amp; LEADERSHIP"/>
          <p:cNvSpPr/>
          <p:nvPr/>
        </p:nvSpPr>
        <p:spPr>
          <a:xfrm>
            <a:off x="640080" y="1691640"/>
            <a:ext cx="5358384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PMO BUILD &amp; LEADERSHIP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626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At Computacenter Belgium and Eversheds Sutherland, I built and led PMO functions that brought structure, reporting discipline and delivery assurance to multi-stream portfolios — establishing governance frameworks, improving stakeholder confidence and stabilising execution.</a:t>
            </a:r>
            <a:endParaRPr lang="en-US" sz="1700" dirty="0"/>
          </a:p>
        </p:txBody>
      </p:sp>
      <p:sp>
        <p:nvSpPr>
          <p:cNvPr id="7" name="Tile Computacenter"/>
          <p:cNvSpPr/>
          <p:nvPr/>
        </p:nvSpPr>
        <p:spPr>
          <a:xfrm>
            <a:off x="1005840" y="4937760"/>
            <a:ext cx="22448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0" descr="Computacen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734" y="5047488"/>
            <a:ext cx="959065" cy="740664"/>
          </a:xfrm>
          <a:prstGeom prst="rect">
            <a:avLst/>
          </a:prstGeom>
        </p:spPr>
      </p:pic>
      <p:sp>
        <p:nvSpPr>
          <p:cNvPr id="9" name="Tile Eversheds Sutherland"/>
          <p:cNvSpPr/>
          <p:nvPr/>
        </p:nvSpPr>
        <p:spPr>
          <a:xfrm>
            <a:off x="3387852" y="4937760"/>
            <a:ext cx="22448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1" descr="Eversheds Sutherl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931" y="5047488"/>
            <a:ext cx="1888693" cy="740664"/>
          </a:xfrm>
          <a:prstGeom prst="rect">
            <a:avLst/>
          </a:prstGeom>
        </p:spPr>
      </p:pic>
      <p:sp>
        <p:nvSpPr>
          <p:cNvPr id="11" name="Card REGULATED &amp; GOVERNMENT PMO"/>
          <p:cNvSpPr/>
          <p:nvPr/>
        </p:nvSpPr>
        <p:spPr>
          <a:xfrm>
            <a:off x="6190488" y="1691640"/>
            <a:ext cx="5358384" cy="4526280"/>
          </a:xfrm>
          <a:prstGeom prst="roundRect">
            <a:avLst>
              <a:gd name="adj" fmla="val 2020"/>
            </a:avLst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56248" y="201168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REGULATED &amp; GOVERNMENT PMO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556248" y="2560320"/>
            <a:ext cx="4626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My work with the FCDO, NFUM and Dounreay Nuclear / NRS demonstrates repeatability in high-governance environments: structured reporting, risk control and portfolio alignment across programmes with strict regulatory and operational constraints.</a:t>
            </a:r>
            <a:endParaRPr lang="en-US" sz="1700" dirty="0"/>
          </a:p>
        </p:txBody>
      </p:sp>
      <p:sp>
        <p:nvSpPr>
          <p:cNvPr id="14" name="Tile FCDO Services"/>
          <p:cNvSpPr/>
          <p:nvPr/>
        </p:nvSpPr>
        <p:spPr>
          <a:xfrm>
            <a:off x="6556248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FCDO Servic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5275414"/>
            <a:ext cx="1231392" cy="284812"/>
          </a:xfrm>
          <a:prstGeom prst="rect">
            <a:avLst/>
          </a:prstGeom>
        </p:spPr>
      </p:pic>
      <p:sp>
        <p:nvSpPr>
          <p:cNvPr id="16" name="Tile NFU Mutual"/>
          <p:cNvSpPr/>
          <p:nvPr/>
        </p:nvSpPr>
        <p:spPr>
          <a:xfrm>
            <a:off x="8144256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3" descr="NFU Mutu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5309551"/>
            <a:ext cx="1231392" cy="216537"/>
          </a:xfrm>
          <a:prstGeom prst="rect">
            <a:avLst/>
          </a:prstGeom>
        </p:spPr>
      </p:pic>
      <p:sp>
        <p:nvSpPr>
          <p:cNvPr id="18" name="Tile Nuclear Restoration Services"/>
          <p:cNvSpPr/>
          <p:nvPr/>
        </p:nvSpPr>
        <p:spPr>
          <a:xfrm>
            <a:off x="9732264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4" descr="Nuclear Restoration Servic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92" y="5104754"/>
            <a:ext cx="1231392" cy="6261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Services that land cleanly into BAU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SERVICE TRANSITION &amp; BAU INTEGRATION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 transitioned global services for Synchrony, integrated Salesforce into BAU and stabilised major programmes through structured service readiness.</a:t>
            </a:r>
            <a:endParaRPr lang="en-US" sz="1600" dirty="0"/>
          </a:p>
        </p:txBody>
      </p:sp>
      <p:sp>
        <p:nvSpPr>
          <p:cNvPr id="5" name="Check 1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200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Teams prepared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547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Operational teams ready to run the service.</a:t>
            </a:r>
            <a:endParaRPr lang="en-US" sz="1350" dirty="0"/>
          </a:p>
        </p:txBody>
      </p:sp>
      <p:sp>
        <p:nvSpPr>
          <p:cNvPr id="9" name="Check 2"/>
          <p:cNvSpPr/>
          <p:nvPr/>
        </p:nvSpPr>
        <p:spPr>
          <a:xfrm>
            <a:off x="640080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Documentation complete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507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Everything in place before go-live.</a:t>
            </a:r>
            <a:endParaRPr lang="en-US" sz="1350" dirty="0"/>
          </a:p>
        </p:txBody>
      </p:sp>
      <p:sp>
        <p:nvSpPr>
          <p:cNvPr id="13" name="Check 3"/>
          <p:cNvSpPr/>
          <p:nvPr/>
        </p:nvSpPr>
        <p:spPr>
          <a:xfrm>
            <a:off x="640080" y="5166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Supportable from day one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468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Support models aligned to the service.</a:t>
            </a:r>
            <a:endParaRPr lang="en-US" sz="1350" dirty="0"/>
          </a:p>
        </p:txBody>
      </p:sp>
      <p:sp>
        <p:nvSpPr>
          <p:cNvPr id="17" name="Synchrony card"/>
          <p:cNvSpPr/>
          <p:nvPr/>
        </p:nvSpPr>
        <p:spPr>
          <a:xfrm>
            <a:off x="7040880" y="1783080"/>
            <a:ext cx="4507992" cy="21488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/>
        </p:spPr>
      </p:sp>
      <p:sp>
        <p:nvSpPr>
          <p:cNvPr id="18" name="Tile Synchrony"/>
          <p:cNvSpPr/>
          <p:nvPr/>
        </p:nvSpPr>
        <p:spPr>
          <a:xfrm>
            <a:off x="7269480" y="201168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0" descr="Synchro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1395" y="2121408"/>
            <a:ext cx="1547851" cy="55778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269480" y="2926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25,000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7269480" y="3474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users on globally transitioned services</a:t>
            </a:r>
            <a:endParaRPr lang="en-US" sz="1300" dirty="0"/>
          </a:p>
        </p:txBody>
      </p:sp>
      <p:sp>
        <p:nvSpPr>
          <p:cNvPr id="22" name="Salesforce card"/>
          <p:cNvSpPr/>
          <p:nvPr/>
        </p:nvSpPr>
        <p:spPr>
          <a:xfrm>
            <a:off x="7040880" y="4114800"/>
            <a:ext cx="450799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3" name="Tile Salesforce"/>
          <p:cNvSpPr/>
          <p:nvPr/>
        </p:nvSpPr>
        <p:spPr>
          <a:xfrm>
            <a:off x="7269480" y="4343400"/>
            <a:ext cx="164592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mage 1" descr="Salesfor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4645124"/>
            <a:ext cx="1463040" cy="104247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14400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Salesforce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9144000" y="5120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Integrated into BAU with structured service readiness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Breadth across cloud, platforms and applications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CLOUD, PLATFORMS &amp; APPLICATION SERVICES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 delivered AWS migration and SaaS integration for Telefónica, led ServiceNow development and platform uplift, and supported secure hosted infrastructure for Mitie and the Home Office.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Breadth across cloud, platform and application services — with strong governance and delivery control throughout.</a:t>
            </a:r>
            <a:endParaRPr lang="en-US" sz="1400" dirty="0"/>
          </a:p>
        </p:txBody>
      </p:sp>
      <p:sp>
        <p:nvSpPr>
          <p:cNvPr id="6" name="Chip AWS migration"/>
          <p:cNvSpPr/>
          <p:nvPr/>
        </p:nvSpPr>
        <p:spPr>
          <a:xfrm>
            <a:off x="640080" y="4663440"/>
            <a:ext cx="142189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663440"/>
            <a:ext cx="1421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AWS migration</a:t>
            </a:r>
            <a:endParaRPr lang="en-US" sz="1150" dirty="0"/>
          </a:p>
        </p:txBody>
      </p:sp>
      <p:sp>
        <p:nvSpPr>
          <p:cNvPr id="8" name="Chip SaaS integration"/>
          <p:cNvSpPr/>
          <p:nvPr/>
        </p:nvSpPr>
        <p:spPr>
          <a:xfrm>
            <a:off x="2171700" y="4663440"/>
            <a:ext cx="1655064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71700" y="4663440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SaaS integration</a:t>
            </a:r>
            <a:endParaRPr lang="en-US" sz="1150" dirty="0"/>
          </a:p>
        </p:txBody>
      </p:sp>
      <p:sp>
        <p:nvSpPr>
          <p:cNvPr id="10" name="Chip ServiceNow"/>
          <p:cNvSpPr/>
          <p:nvPr/>
        </p:nvSpPr>
        <p:spPr>
          <a:xfrm>
            <a:off x="640080" y="507492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5074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ServiceNow</a:t>
            </a:r>
            <a:endParaRPr lang="en-US" sz="1150" dirty="0"/>
          </a:p>
        </p:txBody>
      </p:sp>
      <p:sp>
        <p:nvSpPr>
          <p:cNvPr id="12" name="Chip Secure hosting"/>
          <p:cNvSpPr/>
          <p:nvPr/>
        </p:nvSpPr>
        <p:spPr>
          <a:xfrm>
            <a:off x="1938528" y="5074920"/>
            <a:ext cx="1499616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38528" y="507492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Secure hosting</a:t>
            </a:r>
            <a:endParaRPr lang="en-US" sz="1150" dirty="0"/>
          </a:p>
        </p:txBody>
      </p:sp>
      <p:sp>
        <p:nvSpPr>
          <p:cNvPr id="14" name="Client Telefónica"/>
          <p:cNvSpPr/>
          <p:nvPr/>
        </p:nvSpPr>
        <p:spPr>
          <a:xfrm>
            <a:off x="7040880" y="1783080"/>
            <a:ext cx="45079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5" name="Tile Telefónica"/>
          <p:cNvSpPr/>
          <p:nvPr/>
        </p:nvSpPr>
        <p:spPr>
          <a:xfrm>
            <a:off x="7223760" y="192024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0" descr="Telefón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61231"/>
            <a:ext cx="1645920" cy="61529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32688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Telefónica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AWS migration &amp; SaaS integration</a:t>
            </a:r>
            <a:endParaRPr lang="en-US" sz="1250" dirty="0"/>
          </a:p>
        </p:txBody>
      </p:sp>
      <p:sp>
        <p:nvSpPr>
          <p:cNvPr id="19" name="Client Mitie"/>
          <p:cNvSpPr/>
          <p:nvPr/>
        </p:nvSpPr>
        <p:spPr>
          <a:xfrm>
            <a:off x="7040880" y="3291840"/>
            <a:ext cx="45079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Tile Mitie"/>
          <p:cNvSpPr/>
          <p:nvPr/>
        </p:nvSpPr>
        <p:spPr>
          <a:xfrm>
            <a:off x="7223760" y="34290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1" descr="Mit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678382"/>
            <a:ext cx="1645920" cy="59851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32688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Mitie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932688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Secure hosted infrastructure</a:t>
            </a:r>
            <a:endParaRPr lang="en-US" sz="1250" dirty="0"/>
          </a:p>
        </p:txBody>
      </p:sp>
      <p:sp>
        <p:nvSpPr>
          <p:cNvPr id="24" name="Client Home Office"/>
          <p:cNvSpPr/>
          <p:nvPr/>
        </p:nvSpPr>
        <p:spPr>
          <a:xfrm>
            <a:off x="7040880" y="4800600"/>
            <a:ext cx="45079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5" name="Tile Home Office"/>
          <p:cNvSpPr/>
          <p:nvPr/>
        </p:nvSpPr>
        <p:spPr>
          <a:xfrm>
            <a:off x="7223760" y="493776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2" descr="Home Off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5261103"/>
            <a:ext cx="1645920" cy="45059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32688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Home Office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326880" y="5532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Secure hosted infrastructure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Modernising legacy estates with minimal disruption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LEGACY, MIGRATION &amp; INFRASTRUCTURE MODERNISATION</a:t>
            </a:r>
            <a:endParaRPr lang="en-US" sz="1100" dirty="0"/>
          </a:p>
        </p:txBody>
      </p:sp>
      <p:sp>
        <p:nvSpPr>
          <p:cNvPr id="4" name="Card 1"/>
          <p:cNvSpPr/>
          <p:nvPr/>
        </p:nvSpPr>
        <p:spPr>
          <a:xfrm>
            <a:off x="640080" y="1691640"/>
            <a:ext cx="5358384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LARGE-SCALE MIGRATION &amp; MULTI-STREAM PORTFOLIOS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626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AdminRe and DWP highlight my capability in complex, multi-stream migration and infrastructure modernisation, bringing structure, clarity and delivery discipline to challenging environments with high operational impact.</a:t>
            </a:r>
            <a:endParaRPr lang="en-US" sz="1700" dirty="0"/>
          </a:p>
        </p:txBody>
      </p:sp>
      <p:sp>
        <p:nvSpPr>
          <p:cNvPr id="7" name="Tile ReAssure"/>
          <p:cNvSpPr/>
          <p:nvPr/>
        </p:nvSpPr>
        <p:spPr>
          <a:xfrm>
            <a:off x="1005840" y="4937760"/>
            <a:ext cx="22448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0" descr="ReAss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866" y="5047488"/>
            <a:ext cx="1052801" cy="740664"/>
          </a:xfrm>
          <a:prstGeom prst="rect">
            <a:avLst/>
          </a:prstGeom>
        </p:spPr>
      </p:pic>
      <p:sp>
        <p:nvSpPr>
          <p:cNvPr id="9" name="Tile GOV.UK"/>
          <p:cNvSpPr/>
          <p:nvPr/>
        </p:nvSpPr>
        <p:spPr>
          <a:xfrm>
            <a:off x="3387852" y="4937760"/>
            <a:ext cx="22448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1" descr="GOV.U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5196482"/>
            <a:ext cx="2025396" cy="442676"/>
          </a:xfrm>
          <a:prstGeom prst="rect">
            <a:avLst/>
          </a:prstGeom>
        </p:spPr>
      </p:pic>
      <p:sp>
        <p:nvSpPr>
          <p:cNvPr id="11" name="Card 2"/>
          <p:cNvSpPr/>
          <p:nvPr/>
        </p:nvSpPr>
        <p:spPr>
          <a:xfrm>
            <a:off x="6190488" y="1691640"/>
            <a:ext cx="5358384" cy="4526280"/>
          </a:xfrm>
          <a:prstGeom prst="roundRect">
            <a:avLst>
              <a:gd name="adj" fmla="val 2020"/>
            </a:avLst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56248" y="201168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IDENTITY, MESSAGING &amp; VIRTUALISATION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556248" y="2560320"/>
            <a:ext cx="4626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Santander, the MET Office and Unipart demonstrate my ability to modernise legacy estates, uplift identity and messaging platforms, and deliver virtualisation programmes with minimal disruption.</a:t>
            </a:r>
            <a:endParaRPr lang="en-US" sz="1700" dirty="0"/>
          </a:p>
        </p:txBody>
      </p:sp>
      <p:sp>
        <p:nvSpPr>
          <p:cNvPr id="14" name="Tile Santander"/>
          <p:cNvSpPr/>
          <p:nvPr/>
        </p:nvSpPr>
        <p:spPr>
          <a:xfrm>
            <a:off x="6556248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Santan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5177157"/>
            <a:ext cx="1231392" cy="481326"/>
          </a:xfrm>
          <a:prstGeom prst="rect">
            <a:avLst/>
          </a:prstGeom>
        </p:spPr>
      </p:pic>
      <p:sp>
        <p:nvSpPr>
          <p:cNvPr id="16" name="Tile Metropolitan Police"/>
          <p:cNvSpPr/>
          <p:nvPr/>
        </p:nvSpPr>
        <p:spPr>
          <a:xfrm>
            <a:off x="8144256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3" descr="Metropolitan Poli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5250550"/>
            <a:ext cx="1231392" cy="334540"/>
          </a:xfrm>
          <a:prstGeom prst="rect">
            <a:avLst/>
          </a:prstGeom>
        </p:spPr>
      </p:pic>
      <p:sp>
        <p:nvSpPr>
          <p:cNvPr id="18" name="Tile Unipart"/>
          <p:cNvSpPr/>
          <p:nvPr/>
        </p:nvSpPr>
        <p:spPr>
          <a:xfrm>
            <a:off x="9732264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4" descr="Unip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92" y="5181014"/>
            <a:ext cx="1231392" cy="4736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Bids that are deliverable, costed and credible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PRE-SALES &amp; COMMERCIAL LEADERSHIP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 supported tendering, solution design and commercial modelling across major bids, ensuring proposals were deliverable, costed and aligned with operational reality.</a:t>
            </a:r>
            <a:endParaRPr lang="en-US" sz="1700" dirty="0"/>
          </a:p>
        </p:txBody>
      </p:sp>
      <p:sp>
        <p:nvSpPr>
          <p:cNvPr id="5" name="Rule 1"/>
          <p:cNvSpPr/>
          <p:nvPr/>
        </p:nvSpPr>
        <p:spPr>
          <a:xfrm>
            <a:off x="640080" y="3520440"/>
            <a:ext cx="64008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Tendering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67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Supporting major bid responses.</a:t>
            </a:r>
            <a:endParaRPr lang="en-US" sz="1350" dirty="0"/>
          </a:p>
        </p:txBody>
      </p:sp>
      <p:sp>
        <p:nvSpPr>
          <p:cNvPr id="8" name="Rule 2"/>
          <p:cNvSpPr/>
          <p:nvPr/>
        </p:nvSpPr>
        <p:spPr>
          <a:xfrm>
            <a:off x="640080" y="4434840"/>
            <a:ext cx="64008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Solution design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82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Solutions aligned with operational reality.</a:t>
            </a:r>
            <a:endParaRPr lang="en-US" sz="1350" dirty="0"/>
          </a:p>
        </p:txBody>
      </p:sp>
      <p:sp>
        <p:nvSpPr>
          <p:cNvPr id="11" name="Rule 3"/>
          <p:cNvSpPr/>
          <p:nvPr/>
        </p:nvSpPr>
        <p:spPr>
          <a:xfrm>
            <a:off x="640080" y="5349240"/>
            <a:ext cx="64008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Commercial modelling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696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Proposals that are costed and deliverable.</a:t>
            </a:r>
            <a:endParaRPr lang="en-US" sz="1350" dirty="0"/>
          </a:p>
        </p:txBody>
      </p:sp>
      <p:sp>
        <p:nvSpPr>
          <p:cNvPr id="14" name="Client card"/>
          <p:cNvSpPr/>
          <p:nvPr/>
        </p:nvSpPr>
        <p:spPr>
          <a:xfrm>
            <a:off x="7223760" y="1783080"/>
            <a:ext cx="4325112" cy="4343400"/>
          </a:xfrm>
          <a:prstGeom prst="roundRect">
            <a:avLst>
              <a:gd name="adj" fmla="val 2114"/>
            </a:avLst>
          </a:prstGeom>
          <a:solidFill>
            <a:schemeClr val="bg2"/>
          </a:solidFill>
          <a:ln/>
        </p:spPr>
      </p:sp>
      <p:sp>
        <p:nvSpPr>
          <p:cNvPr id="15" name="Tile HubSpot"/>
          <p:cNvSpPr/>
          <p:nvPr/>
        </p:nvSpPr>
        <p:spPr>
          <a:xfrm>
            <a:off x="7680960" y="2468880"/>
            <a:ext cx="3410712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0" descr="HubSp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2813471"/>
            <a:ext cx="2953512" cy="1139619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680960" y="457200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SELECTED CLIENT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What I bring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Execution certainty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6916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Structure, clarity and governance that restore confidence and deliver predictably in high-pressure, regulated environments.</a:t>
            </a:r>
            <a:endParaRPr lang="en-US" sz="1400" dirty="0"/>
          </a:p>
        </p:txBody>
      </p:sp>
      <p:sp>
        <p:nvSpPr>
          <p:cNvPr id="6" name="Divider"/>
          <p:cNvSpPr/>
          <p:nvPr/>
        </p:nvSpPr>
        <p:spPr>
          <a:xfrm>
            <a:off x="640080" y="237744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23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Cross-sector repeatability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423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track record across financial services, utilities, government, healthcare, aviation and education — simplifying complexity at scale.</a:t>
            </a:r>
            <a:endParaRPr lang="en-US" sz="1400" dirty="0"/>
          </a:p>
        </p:txBody>
      </p:sp>
      <p:sp>
        <p:nvSpPr>
          <p:cNvPr id="9" name="Divider"/>
          <p:cNvSpPr/>
          <p:nvPr/>
        </p:nvSpPr>
        <p:spPr>
          <a:xfrm>
            <a:off x="640080" y="310896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Operational readiness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31546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Services land cleanly, with complete documentation, aligned support models and prepared operational teams.</a:t>
            </a:r>
            <a:endParaRPr lang="en-US" sz="1400" dirty="0"/>
          </a:p>
        </p:txBody>
      </p:sp>
      <p:sp>
        <p:nvSpPr>
          <p:cNvPr id="12" name="Divider"/>
          <p:cNvSpPr/>
          <p:nvPr/>
        </p:nvSpPr>
        <p:spPr>
          <a:xfrm>
            <a:off x="640080" y="384048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Stakeholder confidence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Clear communication and alignment across diverse teams, creating momentum where delivery discipline matters most.</a:t>
            </a:r>
            <a:endParaRPr lang="en-US" sz="1400" dirty="0"/>
          </a:p>
        </p:txBody>
      </p:sp>
      <p:sp>
        <p:nvSpPr>
          <p:cNvPr id="15" name="Divider"/>
          <p:cNvSpPr/>
          <p:nvPr/>
        </p:nvSpPr>
        <p:spPr>
          <a:xfrm>
            <a:off x="640080" y="457200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Long-term service value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46177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focus on adoption, stability and sustainability, so programmes deliver measurable outcomes — not just technical completion.</a:t>
            </a:r>
            <a:endParaRPr lang="en-US" sz="1400" dirty="0"/>
          </a:p>
        </p:txBody>
      </p:sp>
      <p:sp>
        <p:nvSpPr>
          <p:cNvPr id="18" name="Divider"/>
          <p:cNvSpPr/>
          <p:nvPr/>
        </p:nvSpPr>
        <p:spPr>
          <a:xfrm>
            <a:off x="640080" y="530352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4864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A repeatable, cross-domain delivery approach that strengthens execution, stabilises programmes and ensures services are secure, resilient and ready for BAU.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>
                <a:solidFill>
                  <a:srgbClr val="367D85"/>
                </a:solidFill>
                <a:latin typeface="Aptos"/>
              </a:defRPr>
            </a:pPr>
            <a:r>
              <a:t>WORK EXPERIENCE &amp; CAREER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500" b="1">
                <a:solidFill>
                  <a:srgbClr val="1B365B"/>
                </a:solidFill>
                <a:latin typeface="Georgia"/>
              </a:defRPr>
            </a:pPr>
            <a:r>
              <a:t>Recent delivery and consulting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71016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30" b="0">
                <a:solidFill>
                  <a:srgbClr val="262F3B"/>
                </a:solidFill>
                <a:latin typeface="Aptos"/>
              </a:defRPr>
            </a:pPr>
            <a:r>
              <a:t>A progression across cyber security, PMO leadership, infrastructure delivery and service transition.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6556248"/>
            <a:ext cx="3657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750" b="0">
                <a:solidFill>
                  <a:srgbClr val="BEC4CB"/>
                </a:solidFill>
                <a:latin typeface="Aptos"/>
              </a:defRPr>
            </a:pPr>
            <a:r>
              <a:t>Tim Williams  ·  TWC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5B667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83080"/>
            <a:ext cx="535838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801368"/>
            <a:ext cx="64008" cy="202082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>
                <a:solidFill>
                  <a:srgbClr val="1B365B"/>
                </a:solidFill>
                <a:latin typeface="Aptos"/>
              </a:defRPr>
            </a:pPr>
            <a:r>
              <a:t>Tim Williams Consulting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95144"/>
            <a:ext cx="499262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Owner, Designer &amp; Developer (part-time)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96896"/>
            <a:ext cx="4992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Sep 2026 – Present · Digital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16352"/>
            <a:ext cx="4974336" cy="9418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1000" b="0">
                <a:solidFill>
                  <a:srgbClr val="262F3B"/>
                </a:solidFill>
                <a:latin typeface="Aptos"/>
              </a:defRPr>
            </a:pPr>
            <a:r>
              <a:t>Designing a professional CPD platform for IT project professionals to record development, map evidence to APM competencies and share a portfolio of career growth.</a:t>
            </a:r>
            <a:br/>
            <a:r>
              <a:t>•  Combines CPD activity, competency mapping, evidence and development planning.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8308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801368"/>
            <a:ext cx="64008" cy="202082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90195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>
                <a:solidFill>
                  <a:srgbClr val="1B365B"/>
                </a:solidFill>
                <a:latin typeface="Aptos"/>
              </a:defRPr>
            </a:pPr>
            <a:r>
              <a:t>TWC Ltd / NHS England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295144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Executive Director / Technical Delivery Consultant; Senior PM / Technical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596896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Nov 2025 – Feb 2026 · 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816352"/>
            <a:ext cx="5010912" cy="9418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950" b="0">
                <a:solidFill>
                  <a:srgbClr val="262F3B"/>
                </a:solidFill>
                <a:latin typeface="Aptos"/>
              </a:defRPr>
            </a:pPr>
            <a:r>
              <a:t>Led project and technical delivery for an NHS England cyber uplift aligned to the Cyber Assessment Framework (CAF), from discovery and assessment through recommendations, design and delivery planning.</a:t>
            </a:r>
            <a:br/>
            <a:r>
              <a:t>•  Coordinated MFA, IPAM, SSO, IAM, CyberArk, Splunk, Azure, Entra and Intune.</a:t>
            </a:r>
            <a:br/>
            <a:r>
              <a:t>•  Included design and implementation of a secure backup solution.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041648"/>
            <a:ext cx="535838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4059935"/>
            <a:ext cx="64008" cy="202082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>
                <a:solidFill>
                  <a:srgbClr val="1B365B"/>
                </a:solidFill>
                <a:latin typeface="Aptos"/>
              </a:defRPr>
            </a:pPr>
            <a:r>
              <a:t>Roc Technologies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53712"/>
            <a:ext cx="499262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Senior Project Manager / PMO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55464"/>
            <a:ext cx="4992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Jul 2025 – Oct 2025 ·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4974336" cy="9418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960" b="0">
                <a:solidFill>
                  <a:srgbClr val="262F3B"/>
                </a:solidFill>
                <a:latin typeface="Aptos"/>
              </a:defRPr>
            </a:pPr>
            <a:r>
              <a:t>Led project delivery and PMO governance in complex, multi-vendor environments, including nuclear, airport and university infrastructure programmes.</a:t>
            </a:r>
            <a:br/>
            <a:r>
              <a:t>•  £3.6m Dounreay Nuclear PMO service contract and £122m IT portfolio.</a:t>
            </a:r>
            <a:br/>
            <a:r>
              <a:t>•  Luton Airport MFA; Newcastle University network, Teams Rooms and print refresh; ServiceNow MSP rollout.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4041648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4059935"/>
            <a:ext cx="64008" cy="202082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16052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>
                <a:solidFill>
                  <a:srgbClr val="1B365B"/>
                </a:solidFill>
                <a:latin typeface="Aptos"/>
              </a:defRPr>
            </a:pPr>
            <a:r>
              <a:t>Version 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4553712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Service Transition Project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485546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Nov 2024 – Jul 2025 · 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5074920"/>
            <a:ext cx="5010912" cy="9418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960" b="0">
                <a:solidFill>
                  <a:srgbClr val="262F3B"/>
                </a:solidFill>
                <a:latin typeface="Aptos"/>
              </a:defRPr>
            </a:pPr>
            <a:r>
              <a:t>Transitioned professional-services and in-life projects into managed services, ensuring services were supportable, understood and ready for BAU.</a:t>
            </a:r>
            <a:br/>
            <a:r>
              <a:t>•  Coordinated service take-on, knowledge transfer, training, service design and readiness.</a:t>
            </a:r>
            <a:br/>
            <a:r>
              <a:t>•  Supported ServiceNow development/integration and Salesforce Service Cloud transition.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>
                <a:solidFill>
                  <a:srgbClr val="367D85"/>
                </a:solidFill>
                <a:latin typeface="Aptos"/>
              </a:defRPr>
            </a:pPr>
            <a:r>
              <a:t>WORK EXPERIENCE &amp; CAREER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500" b="1">
                <a:solidFill>
                  <a:srgbClr val="1B365B"/>
                </a:solidFill>
                <a:latin typeface="Georgia"/>
              </a:defRPr>
            </a:pPr>
            <a:r>
              <a:t>Computacenter | 2013–2024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71016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30" b="0">
                <a:solidFill>
                  <a:srgbClr val="262F3B"/>
                </a:solidFill>
                <a:latin typeface="Aptos"/>
              </a:defRPr>
            </a:pPr>
            <a:r>
              <a:t>Progression through project delivery, PMO leadership, service transition, transformation and pre-sales across UK and international customers.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6556248"/>
            <a:ext cx="3657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750" b="0">
                <a:solidFill>
                  <a:srgbClr val="BEC4CB"/>
                </a:solidFill>
                <a:latin typeface="Aptos"/>
              </a:defRPr>
            </a:pPr>
            <a:r>
              <a:t>Tim Williams  ·  TWC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5B667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83080"/>
            <a:ext cx="10917936" cy="987552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56816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20" b="1">
                <a:solidFill>
                  <a:srgbClr val="1B365B"/>
                </a:solidFill>
                <a:latin typeface="Aptos"/>
              </a:defRPr>
            </a:pPr>
            <a:r>
              <a:t>Professional Services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95681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20" b="1">
                <a:solidFill>
                  <a:srgbClr val="1B365B"/>
                </a:solidFill>
                <a:latin typeface="Aptos"/>
              </a:defRPr>
            </a:pPr>
            <a:r>
              <a:t>PMO Manager /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956816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80" b="1">
                <a:solidFill>
                  <a:srgbClr val="1B365B"/>
                </a:solidFill>
                <a:latin typeface="Aptos"/>
              </a:defRPr>
            </a:pPr>
            <a:r>
              <a:t>Transition &amp;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568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20" b="1">
                <a:solidFill>
                  <a:srgbClr val="1B365B"/>
                </a:solidFill>
                <a:latin typeface="Aptos"/>
              </a:defRPr>
            </a:pPr>
            <a:r>
              <a:t>Pre-Sales Engagement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042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1">
                <a:solidFill>
                  <a:srgbClr val="5B6674"/>
                </a:solidFill>
                <a:latin typeface="Aptos"/>
              </a:defRPr>
            </a:pPr>
            <a:r>
              <a:t>Jul 2013 – Sep 2024  ·  UK and international client environments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999232"/>
            <a:ext cx="3493008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3017520"/>
            <a:ext cx="64008" cy="30540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18103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20" b="1">
                <a:solidFill>
                  <a:srgbClr val="1B365B"/>
                </a:solidFill>
                <a:latin typeface="Aptos"/>
              </a:defRPr>
            </a:pPr>
            <a:r>
              <a:t>PMO leadership &amp;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11296"/>
            <a:ext cx="3127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Portfolio controls and assurance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13048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Public and private sector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32504"/>
            <a:ext cx="3108960" cy="19751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1030" b="0">
                <a:solidFill>
                  <a:srgbClr val="262F3B"/>
                </a:solidFill>
                <a:latin typeface="Aptos"/>
              </a:defRPr>
            </a:pPr>
            <a:r>
              <a:t>Designed, established and matured PMO services with portfolio reporting, RAID and dependency management, financial/resource control, governance, assurance and continual service improvement.</a:t>
            </a:r>
            <a:br/>
            <a:r>
              <a:t>•  FCDO, DWP, MET, MoD, HSBC, NFU Mutual and Eversheds.</a:t>
            </a:r>
            <a:br/>
            <a:r>
              <a:t>•  European Central PMO service design and maturity improvement.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1104" y="2999232"/>
            <a:ext cx="3493008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1104" y="3017520"/>
            <a:ext cx="64008" cy="30540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118103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>
                <a:solidFill>
                  <a:srgbClr val="1B365B"/>
                </a:solidFill>
                <a:latin typeface="Aptos"/>
              </a:defRPr>
            </a:pPr>
            <a:r>
              <a:t>Global workplace &amp;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511296"/>
            <a:ext cx="3127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Enterprise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813048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15,000–126,000 device estates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032504"/>
            <a:ext cx="3108960" cy="19751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1019" b="0">
                <a:solidFill>
                  <a:srgbClr val="262F3B"/>
                </a:solidFill>
                <a:latin typeface="Aptos"/>
              </a:defRPr>
            </a:pPr>
            <a:r>
              <a:t>Led or supported large-scale Windows, endpoint and workplace transformations, plus cloud, platform and infrastructure modernisation.</a:t>
            </a:r>
            <a:br/>
            <a:r>
              <a:t>•  Tesco Windows transformation: 126,000 devices.</a:t>
            </a:r>
            <a:br/>
            <a:r>
              <a:t>•  HSBC, Linklaters, NFU Mutual and UK Home Office Windows 10: 32,000 devices.</a:t>
            </a:r>
            <a:br/>
            <a:r>
              <a:t>•  Azure, AWS, Intune, ServiceNow and application integration.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0416" y="2999232"/>
            <a:ext cx="3639312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0416" y="3017520"/>
            <a:ext cx="64008" cy="30540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4" y="3118103"/>
            <a:ext cx="32735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20" b="1">
                <a:solidFill>
                  <a:srgbClr val="1B365B"/>
                </a:solidFill>
                <a:latin typeface="Aptos"/>
              </a:defRPr>
            </a:pPr>
            <a:r>
              <a:t>Transition, commercial &amp; leadership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4" y="3511296"/>
            <a:ext cx="327355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Delivery from bid to BAU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4" y="3813048"/>
            <a:ext cx="3273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Cross-functional leadership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4" y="4032504"/>
            <a:ext cx="3255264" cy="19751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980" b="0">
                <a:solidFill>
                  <a:srgbClr val="262F3B"/>
                </a:solidFill>
                <a:latin typeface="Aptos"/>
              </a:defRPr>
            </a:pPr>
            <a:r>
              <a:t>Managed managed-service transitions and transformation engagements, aligning operational integration with delivery plans. Contributed to tenders, statements of work, solution design, cost models and third-party engagement.</a:t>
            </a:r>
            <a:br/>
            <a:r>
              <a:t>•  Synchrony global managed-services transition; Telefónica AWS/data migration; MoD Exchange migration.</a:t>
            </a:r>
            <a:br/>
            <a:r>
              <a:t>•  Improved delivery methods, processes, tools and templates.</a:t>
            </a:r>
            <a:br/>
            <a:r>
              <a:t>•  Represented UK Professional Services PMs on the company-wide Employee Forum.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>
                <a:solidFill>
                  <a:srgbClr val="367D85"/>
                </a:solidFill>
                <a:latin typeface="Aptos"/>
              </a:defRPr>
            </a:pPr>
            <a:r>
              <a:t>WORK EXPERIENCE &amp; CAREER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500" b="1">
                <a:solidFill>
                  <a:srgbClr val="1B365B"/>
                </a:solidFill>
                <a:latin typeface="Georgia"/>
              </a:defRPr>
            </a:pPr>
            <a:r>
              <a:t>Earlier career | 2001–2012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71016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30" b="0">
                <a:solidFill>
                  <a:srgbClr val="262F3B"/>
                </a:solidFill>
                <a:latin typeface="Aptos"/>
              </a:defRPr>
            </a:pPr>
            <a:r>
              <a:t>A technical and delivery foundation spanning infrastructure, software development, enterprise support and client-facing project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6556248"/>
            <a:ext cx="3657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750" b="0">
                <a:solidFill>
                  <a:srgbClr val="BEC4CB"/>
                </a:solidFill>
                <a:latin typeface="Aptos"/>
              </a:defRPr>
            </a:pPr>
            <a:r>
              <a:t>Tim Williams  ·  TWC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5B667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47088"/>
            <a:ext cx="349300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865376"/>
            <a:ext cx="64008" cy="334670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>
                <a:solidFill>
                  <a:srgbClr val="1B365B"/>
                </a:solidFill>
                <a:latin typeface="Aptos"/>
              </a:defRPr>
            </a:pPr>
            <a:r>
              <a:t>Capita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2"/>
            <a:ext cx="3127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Project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60904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Jul 2011 – Jul 2012 · Coventry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3108960" cy="2267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1070" b="0">
                <a:solidFill>
                  <a:srgbClr val="262F3B"/>
                </a:solidFill>
                <a:latin typeface="Aptos"/>
              </a:defRPr>
            </a:pPr>
            <a:r>
              <a:t>Managed infrastructure and software-development projects for financial-services and insurance customers, coordinating technical delivery, customer expectations, project controls and implementation activity.</a:t>
            </a:r>
            <a:br/>
            <a:r>
              <a:t>•  Clients included AdminRe, Windsor Life, Norwich Union, AXA and Phoenix Group.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47088"/>
            <a:ext cx="349300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1865376"/>
            <a:ext cx="64008" cy="334670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965960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>
                <a:solidFill>
                  <a:srgbClr val="1B365B"/>
                </a:solidFill>
                <a:latin typeface="Aptos"/>
              </a:defRPr>
            </a:pPr>
            <a:r>
              <a:t>Trustmarque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359152"/>
            <a:ext cx="3127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Project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660904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2006 – Jul 2011 · Birmingham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880360"/>
            <a:ext cx="3108960" cy="2267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1070" b="0">
                <a:solidFill>
                  <a:srgbClr val="262F3B"/>
                </a:solidFill>
                <a:latin typeface="Aptos"/>
              </a:defRPr>
            </a:pPr>
            <a:r>
              <a:t>Managed infrastructure and software-development projects for life and pensions, banking and insurance clients.</a:t>
            </a:r>
            <a:br/>
            <a:r>
              <a:t>•  Clients included AdminRe, Windsor Life, Norwich Union, AXA and Phoenix Group.</a:t>
            </a:r>
            <a:br/>
            <a:r>
              <a:t>•  Earlier delivery also included infrastructure, virtualisation and software development through Trinity Expert Systems.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847088"/>
            <a:ext cx="363931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865376"/>
            <a:ext cx="64008" cy="334670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4" y="1965960"/>
            <a:ext cx="32735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>
                <a:solidFill>
                  <a:srgbClr val="1B365B"/>
                </a:solidFill>
                <a:latin typeface="Aptos"/>
              </a:defRPr>
            </a:pPr>
            <a:r>
              <a:t>Earlier technical career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2359152"/>
            <a:ext cx="327355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80" b="1">
                <a:solidFill>
                  <a:srgbClr val="367D85"/>
                </a:solidFill>
                <a:latin typeface="Aptos"/>
              </a:defRPr>
            </a:pPr>
            <a:r>
              <a:t>Jaguar Land Rover · BT Group · Capgemini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2660904"/>
            <a:ext cx="3273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90" b="1">
                <a:solidFill>
                  <a:srgbClr val="5B6674"/>
                </a:solidFill>
                <a:latin typeface="Aptos"/>
              </a:defRPr>
            </a:pPr>
            <a:r>
              <a:t>2001 – 2006 · Birmingham /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4" y="2880360"/>
            <a:ext cx="3255264" cy="2267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defRPr sz="980" b="0">
                <a:solidFill>
                  <a:srgbClr val="262F3B"/>
                </a:solidFill>
                <a:latin typeface="Aptos"/>
              </a:defRPr>
            </a:pPr>
            <a:r>
              <a:t>Built hands-on experience across IT infrastructure, retail systems, technical support and service operations.</a:t>
            </a:r>
            <a:br/>
            <a:r>
              <a:t>•  Jaguar Land Rover — IT Manager (2005–2006): infrastructure and e-learning products.</a:t>
            </a:r>
            <a:br/>
            <a:r>
              <a:t>•  BT Group — 2nd Line Technical Analyst (2002–2004): EPOS/POS, SQL, MS-DOS and Windows NT4 support.</a:t>
            </a:r>
            <a:br/>
            <a:r>
              <a:t>•  Capgemini — Technical Analyst (2001–2002): first- and second-line internal service desk support.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5504688"/>
            <a:ext cx="10917936" cy="566928"/>
          </a:xfrm>
          <a:prstGeom prst="roundRect">
            <a:avLst/>
          </a:prstGeom>
          <a:solidFill>
            <a:srgbClr val="1B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660136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This technical foundation connects programme governance with practical engineering, service support and operational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WC Portfolio">
  <a:themeElements>
    <a:clrScheme name="TWC Portfolio">
      <a:dk1>
        <a:srgbClr val="1B2433"/>
      </a:dk1>
      <a:lt1>
        <a:srgbClr val="FFFFFF"/>
      </a:lt1>
      <a:dk2>
        <a:srgbClr val="14325C"/>
      </a:dk2>
      <a:lt2>
        <a:srgbClr val="F2F5F9"/>
      </a:lt2>
      <a:accent1>
        <a:srgbClr val="1F7A8C"/>
      </a:accent1>
      <a:accent2>
        <a:srgbClr val="D99A2B"/>
      </a:accent2>
      <a:accent3>
        <a:srgbClr val="5B7DB1"/>
      </a:accent3>
      <a:accent4>
        <a:srgbClr val="5F6B7C"/>
      </a:accent4>
      <a:accent5>
        <a:srgbClr val="D9E0EA"/>
      </a:accent5>
      <a:accent6>
        <a:srgbClr val="7FB7A4"/>
      </a:accent6>
      <a:hlink>
        <a:srgbClr val="1F7A8C"/>
      </a:hlink>
      <a:folHlink>
        <a:srgbClr val="5F6B7C"/>
      </a:folHlink>
    </a:clrScheme>
    <a:fontScheme name="TWC Portfolio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 Williams — Professional Portfolio</dc:title>
  <dc:subject>PptxGenJS Presentation</dc:subject>
  <dc:creator>Tim Williams, TWC Ltd</dc:creator>
  <cp:lastModifiedBy>Tim Williams, TWC Ltd</cp:lastModifiedBy>
  <cp:revision>1</cp:revision>
  <dcterms:created xsi:type="dcterms:W3CDTF">2026-10-14T05:32:01Z</dcterms:created>
  <dcterms:modified xsi:type="dcterms:W3CDTF">2026-10-14T05:32:01Z</dcterms:modified>
</cp:coreProperties>
</file>